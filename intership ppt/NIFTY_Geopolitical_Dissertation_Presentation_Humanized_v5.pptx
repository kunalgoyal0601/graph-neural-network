
<file path=[Content_Types].xml><?xml version="1.0" encoding="utf-8"?>
<Types xmlns="http://schemas.openxmlformats.org/package/2006/content-types">
  <Default Extension="fntdata" ContentType="application/x-fontdata"/>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6" r:id="rId8"/>
    <p:sldId id="267" r:id="rId9"/>
    <p:sldId id="262" r:id="rId10"/>
    <p:sldId id="263" r:id="rId11"/>
    <p:sldId id="264" r:id="rId12"/>
    <p:sldId id="265" r:id="rId13"/>
  </p:sldIdLst>
  <p:sldSz cx="9144000" cy="6858000" type="screen4x3"/>
  <p:notesSz cx="6858000" cy="9144000"/>
  <p:embeddedFontLst>
    <p:embeddedFont>
      <p:font typeface="Cambria" panose="02040503050406030204" pitchFamily="18" charset="0"/>
      <p:regular r:id="rId15"/>
      <p:bold r:id="rId16"/>
      <p:italic r:id="rId17"/>
      <p:boldItalic r:id="rId18"/>
    </p:embeddedFont>
    <p:embeddedFont>
      <p:font typeface="Cambria Math" panose="02040503050406030204" pitchFamily="18" charset="0"/>
      <p:regular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0" roundtripDataSignature="AMtx7mgHRajrKPC6Zx+s5svIM9nstse66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6624" autoAdjust="0"/>
  </p:normalViewPr>
  <p:slideViewPr>
    <p:cSldViewPr snapToGrid="0">
      <p:cViewPr>
        <p:scale>
          <a:sx n="75" d="100"/>
          <a:sy n="75" d="100"/>
        </p:scale>
        <p:origin x="1020" y="-121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rPr sz="1400">
                <a:latin typeface="Cambria"/>
              </a:rPr>
              <a:t>Good morning respected members of the committee and my supervisor, Dr. Bhavna Saini. Today I am presenting my M.Sc. dissertation titled “Predicting Next-Day Movement of Indian Stock Market Sectors Based on Geopolitical Risks.” The study investigates whether geopolitical information and graph-based modelling can help predict the next-day direction of Indian NIFTY sectoral indices. I compare classical machine-learning models with Graph Neural Networks under a chronological evaluation protocol.</a:t>
            </a:r>
          </a:p>
        </p:txBody>
      </p:sp>
      <p:sp>
        <p:nvSpPr>
          <p:cNvPr id="86" name="Google Shape;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rPr sz="1400">
                <a:latin typeface="Cambria"/>
              </a:rPr>
              <a:t>This presentation follows the structure of the project template. I will first introduce the prediction problem, then briefly review the relevant literature and identify the research gap. Next, I will explain the objectives and methodology, discuss the experimental results and milestones, and finally present the conclusions, future work and references.</a:t>
            </a:r>
          </a:p>
        </p:txBody>
      </p:sp>
      <p:sp>
        <p:nvSpPr>
          <p:cNvPr id="98" name="Google Shape;98;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rPr sz="1400">
                <a:latin typeface="Cambria"/>
              </a:rPr>
              <a:t>The basic problem is to predict whether a sector will move up or down on the next trading day. I focus on eight NIFTY sectoral indices. This is difficult because daily market movements are noisy and short-term signals are weak. At the same time, sectors can respond differently to market conditions, macroeconomic variables and geopolitical events. Therefore, the study examines both conventional machine-learning models and a graph-based representation of these relationships. GDELT is used as a source of geopolitical event information.</a:t>
            </a:r>
          </a:p>
        </p:txBody>
      </p:sp>
      <p:sp>
        <p:nvSpPr>
          <p:cNvPr id="105" name="Google Shape;105;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rPr sz="1400">
                <a:latin typeface="Cambria"/>
              </a:rPr>
              <a:t>The literature relevant to this study can be understood through three areas. First, financial prediction research shows that daily directional prediction is difficult, and classical models such as Random Forest and XGBoost are useful nonlinear baselines. Second, Graph Neural Networks such as GCN, GraphSAGE and GAT provide methods for learning from relationships between connected entities, and they have been applied in financial and other relational settings. Third, GDELT provides machine-readable information about events, conflict and tone, making it useful as a geopolitical proxy. The gap addressed here is a controlled comparison for Indian sectoral indices that combines a domain-informed graph with a direct GDELT ablation and a chronological, leakage-conscious evaluation.</a:t>
            </a: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rPr sz="1400">
                <a:latin typeface="Cambria"/>
              </a:rPr>
              <a:t>The overall objective is to evaluate whether geopolitical information and relational graph modelling improve next-day sector-direction prediction. I formulate three research questions. RQ1 asks whether GDELT features add predictive value. RQ2 asks whether the evaluated GNNs outperform the classical Random Forest and XGBoost baselines. RQ3 asks whether the graph models actually learn to distinguish UP from DOWN movements, rather than only producing a favourable-looking aggregate metric. These questions guide the data preparation, experiments and diagnostics.</a:t>
            </a:r>
          </a:p>
        </p:txBody>
      </p:sp>
      <p:sp>
        <p:nvSpPr>
          <p:cNvPr id="119" name="Google Shape;119;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rPr sz="1400">
                <a:latin typeface="Cambria"/>
              </a:rPr>
              <a:t>The dataset covers 2,086 trading days from January 2018 to June 2026. It contains eight NIFTY sectors, four macroeconomic series—Gold, Oil, USD/INR and India VIX—and GDELT information for seven countries plus a global aggregate. The features include price-derived measures such as returns, moving-average ratios, volatility, momentum and RSI, together with GDELT event, conflict and tone indicators. The target is next-day UP or DOWN. The data is evaluated chronologically, with preprocessing fitted on training data. Two classical configurations are used: E1 with GDELT and E2 without GDELT. The graph pipeline uses a 21-node domain-informed graph with 56 relationships and evaluates GCN, GraphSAGE, GAT and an HGT-style model.</a:t>
            </a:r>
          </a:p>
        </p:txBody>
      </p:sp>
      <p:sp>
        <p:nvSpPr>
          <p:cNvPr id="126" name="Google Shape;126;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This slide explains how the graph used in the dissertation was constructed. There are 21 nodes: NIFTY 50 plus eight sector indices, four macroeconomic nodes, seven country nodes and one global GDELT node.</a:t>
            </a:r>
          </a:p>
          <a:p>
            <a:endParaRPr/>
          </a:p>
          <a:p>
            <a:r>
              <a:t>The 56 unique undirected relationships are grouped into six relation types: benchmark-to-sector, sector-to-sector, macro-to-sector, country-to-sector, country-to-country and global-to-other. The edges were chosen from economic and geopolitical reasoning. They are modelling assumptions that provide relational structure; they are not claims that one entity causes another.</a:t>
            </a:r>
          </a:p>
          <a:p>
            <a:endParaRPr/>
          </a:p>
          <a:p>
            <a:r>
              <a:t>The topology is fixed. Duplicate pairs are removed, the relationships are expanded into a symmetric adjacency matrix, and the same topology is reused for every trading day. Only the node features change from day to day.</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This slide explains the main difference between the four graph models. The graph itself stays the same; the message-passing rule changes.</a:t>
            </a:r>
          </a:p>
          <a:p>
            <a:endParaRPr/>
          </a:p>
          <a:p>
            <a:r>
              <a:t>GCN uses normalized adjacency, so neighbour contributions are determined by the fixed topology and degree. GraphSAGE aggregates neighbour representations and concatenates that aggregate with the node's own representation before the transformation. GAT learns an attention coefficient for each existing edge, allowing different neighbours to receive different weights.</a:t>
            </a:r>
          </a:p>
          <a:p>
            <a:endParaRPr/>
          </a:p>
          <a:p>
            <a:r>
              <a:t>The HGT-style model is type-aware. It adds node-type information and uses relation-type information in four-head attention, together with residual connections and layer normalization. This is important because the graph contains different kinds of relationships, such as country-to-sector and macro-to-sector.</a:t>
            </a:r>
          </a:p>
          <a:p>
            <a:endParaRPr/>
          </a:p>
          <a:p>
            <a:r>
              <a:t>All four models in this dissertation use two message-passing layers, hidden size 48 and dropout 0.20. Only the eight sector nodes are prediction targets; the other nodes influence predictions through message passing.</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This slide presents the results as evidence rather than as a leaderboard.</a:t>
            </a:r>
          </a:p>
          <a:p>
            <a:endParaRPr/>
          </a:p>
          <a:p>
            <a:r>
              <a:t>The first table gives the mean test performance of the classical models across the eight sectors. E1 contains technical and GDELT features, while E2 contains the technical features only. The values remain close to the 50 percent reference, and the GDELT comparison does not show a consistent improvement.</a:t>
            </a:r>
          </a:p>
          <a:p>
            <a:endParaRPr/>
          </a:p>
          <a:p>
            <a:r>
              <a:t>The second table is deliberately labelled as a diagnostic. HGT-style has the highest ROC-AUC among the four GNNs at 0.5018, but all four graph models predicted UP for every test observation. This is why the positive-class F1 of 0.6814 must not be treated as evidence of good UP/DOWN discrimination.</a:t>
            </a:r>
          </a:p>
          <a:p>
            <a:endParaRPr/>
          </a:p>
          <a:p>
            <a:r>
              <a:t>The milestones at the bottom summarise what was actually completed: the multi-source data pipeline, the heterogeneous graph, the classical baselines, the GDELT ablation and the GNN diagnostic analysis.</a:t>
            </a:r>
          </a:p>
          <a:p>
            <a:endParaRPr/>
          </a:p>
          <a:p>
            <a:r>
              <a:t>The main point to communicate is that the experiment was able to test the proposed ideas and also reveal where the current setup does not provide reliable predictive discrimination.</a:t>
            </a:r>
          </a:p>
        </p:txBody>
      </p:sp>
      <p:sp>
        <p:nvSpPr>
          <p:cNvPr id="133" name="Google Shape;133;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rPr sz="1400">
                <a:latin typeface="Cambria"/>
              </a:rPr>
              <a:t>The conclusions answer the three research questions directly. First, GDELT did not provide a reliable improvement under the tested classical configurations. Second, the tested GNNs did not demonstrate an advantage over the classical baselines under this particular dataset, graph design and training setup. Third, the GNNs showed constant-UP behaviour, so they did not establish useful UP-versus-DOWN discrimination. The important point is that these conclusions apply to the configuration tested; they do not establish that GNNs or geopolitical information can never be useful.</a:t>
            </a:r>
          </a:p>
        </p:txBody>
      </p:sp>
      <p:sp>
        <p:nvSpPr>
          <p:cNvPr id="140" name="Google Shape;140;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rPr sz="1400">
                <a:latin typeface="Cambria"/>
              </a:rPr>
              <a:t>The future work comes directly from the limitations identified in the dissertation. The first priority is to rerun the graph experiments with longer training and repeated settings. Stronger temporal evaluation such as walk-forward validation and multiple random seeds can test stability. The data pipeline can be improved by adding complete macroeconomic coverage and verifying information-availability timestamps. The graph can be made dynamic so that relationships change over time, and temporal GNNs can be explored. Finally, explainability can be extended, and if meaningful predictive performance is obtained, practical usefulness can be tested with a backtest including transaction costs. These are proposed extensions and were not performed in the current study.</a:t>
            </a:r>
          </a:p>
        </p:txBody>
      </p:sp>
      <p:sp>
        <p:nvSpPr>
          <p:cNvPr id="147" name="Google Shape;147;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rPr sz="1400">
                <a:latin typeface="Cambria"/>
              </a:rPr>
              <a:t>These are the main references supporting the dissertation. They include Fama's work on market efficiency, research on geopolitical risk, foundational GNN papers for GCN, GraphSAGE and GAT, and the GDELT source. I have also included the main data sources used in the study. The complete reference list is available in the dissertation. Thank you for your attention. I am happy to answer questions.</a:t>
            </a:r>
          </a:p>
        </p:txBody>
      </p:sp>
      <p:sp>
        <p:nvSpPr>
          <p:cNvPr id="154" name="Google Shape;154;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1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 name="Google Shape;22;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5"/>
        <p:cNvGrpSpPr/>
        <p:nvPr/>
      </p:nvGrpSpPr>
      <p:grpSpPr>
        <a:xfrm>
          <a:off x="0" y="0"/>
          <a:ext cx="0" cy="0"/>
          <a:chOff x="0" y="0"/>
          <a:chExt cx="0" cy="0"/>
        </a:xfrm>
      </p:grpSpPr>
      <p:sp>
        <p:nvSpPr>
          <p:cNvPr id="26" name="Google Shape;26;p1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1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8" name="Google Shape;28;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1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1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4" name="Google Shape;34;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1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0" name="Google Shape;40;p1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1" name="Google Shape;41;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1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7" name="Google Shape;47;p1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8" name="Google Shape;48;p1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9" name="Google Shape;49;p1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0" name="Google Shape;50;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1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0"/>
          <p:cNvSpPr>
            <a:spLocks noGrp="1"/>
          </p:cNvSpPr>
          <p:nvPr>
            <p:ph type="pic" idx="2"/>
          </p:nvPr>
        </p:nvSpPr>
        <p:spPr>
          <a:xfrm>
            <a:off x="1792288" y="612775"/>
            <a:ext cx="5486400" cy="4114800"/>
          </a:xfrm>
          <a:prstGeom prst="rect">
            <a:avLst/>
          </a:prstGeom>
          <a:noFill/>
          <a:ln>
            <a:noFill/>
          </a:ln>
        </p:spPr>
      </p:sp>
      <p:sp>
        <p:nvSpPr>
          <p:cNvPr id="68" name="Google Shape;68;p2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p:nvPr/>
        </p:nvSpPr>
        <p:spPr>
          <a:xfrm>
            <a:off x="2103120" y="1993392"/>
            <a:ext cx="4937760" cy="502920"/>
          </a:xfrm>
          <a:prstGeom prst="rect">
            <a:avLst/>
          </a:prstGeom>
          <a:noFill/>
          <a:ln>
            <a:noFill/>
          </a:ln>
        </p:spPr>
        <p:txBody>
          <a:bodyPr spcFirstLastPara="1" wrap="square" lIns="36576" tIns="27432" rIns="36576" bIns="27432" anchor="b" anchorCtr="0">
            <a:noAutofit/>
          </a:bodyPr>
          <a:lstStyle/>
          <a:p>
            <a:pPr marL="0" marR="0" lvl="0" indent="0" algn="ctr" rtl="0">
              <a:lnSpc>
                <a:spcPct val="90000"/>
              </a:lnSpc>
              <a:spcBef>
                <a:spcPts val="0"/>
              </a:spcBef>
              <a:spcAft>
                <a:spcPts val="0"/>
              </a:spcAft>
              <a:buClr>
                <a:schemeClr val="dk1"/>
              </a:buClr>
              <a:buSzPts val="4000"/>
              <a:buFont typeface="Cambria"/>
              <a:buNone/>
            </a:pPr>
            <a:r>
              <a:rPr sz="2200" b="0">
                <a:solidFill>
                  <a:srgbClr val="232B30"/>
                </a:solidFill>
                <a:latin typeface="Aptos"/>
              </a:rPr>
              <a:t>M.Sc. Dissertation Presentation</a:t>
            </a:r>
            <a:endParaRPr/>
          </a:p>
        </p:txBody>
      </p:sp>
      <p:sp>
        <p:nvSpPr>
          <p:cNvPr id="89" name="Google Shape;89;p1"/>
          <p:cNvSpPr txBox="1"/>
          <p:nvPr/>
        </p:nvSpPr>
        <p:spPr>
          <a:xfrm>
            <a:off x="1828800" y="2606040"/>
            <a:ext cx="5486400" cy="1143000"/>
          </a:xfrm>
          <a:prstGeom prst="rect">
            <a:avLst/>
          </a:prstGeom>
          <a:noFill/>
          <a:ln>
            <a:noFill/>
          </a:ln>
        </p:spPr>
        <p:txBody>
          <a:bodyPr spcFirstLastPara="1" wrap="square" lIns="36576" tIns="27432" rIns="36576" bIns="27432" anchor="t" anchorCtr="0">
            <a:noAutofit/>
          </a:bodyPr>
          <a:lstStyle/>
          <a:p>
            <a:pPr marL="0" marR="0" lvl="0" indent="0" algn="ctr" rtl="0">
              <a:lnSpc>
                <a:spcPct val="90000"/>
              </a:lnSpc>
              <a:spcBef>
                <a:spcPts val="0"/>
              </a:spcBef>
              <a:spcAft>
                <a:spcPts val="0"/>
              </a:spcAft>
              <a:buClr>
                <a:schemeClr val="dk1"/>
              </a:buClr>
              <a:buSzPts val="2100"/>
              <a:buFont typeface="Arial"/>
              <a:buNone/>
            </a:pPr>
            <a:r>
              <a:rPr sz="1700" b="0">
                <a:solidFill>
                  <a:srgbClr val="232B30"/>
                </a:solidFill>
                <a:latin typeface="Aptos"/>
              </a:rPr>
              <a:t>by
Kunal Goyal (2025MSBDA010)
Department of Data Science and Analytics
Central University of Rajasthan, Ajmer</a:t>
            </a:r>
            <a:endParaRPr/>
          </a:p>
        </p:txBody>
      </p:sp>
      <p:sp>
        <p:nvSpPr>
          <p:cNvPr id="90" name="Google Shape;90;p1"/>
          <p:cNvSpPr txBox="1"/>
          <p:nvPr/>
        </p:nvSpPr>
        <p:spPr>
          <a:xfrm>
            <a:off x="3657600" y="6446520"/>
            <a:ext cx="1828800" cy="274320"/>
          </a:xfrm>
          <a:prstGeom prst="rect">
            <a:avLst/>
          </a:prstGeom>
          <a:noFill/>
          <a:ln>
            <a:noFill/>
          </a:ln>
        </p:spPr>
        <p:txBody>
          <a:bodyPr spcFirstLastPara="1" wrap="square" lIns="36576" tIns="27432" rIns="36576" bIns="27432" anchor="t" anchorCtr="0">
            <a:spAutoFit/>
          </a:bodyPr>
          <a:lstStyle/>
          <a:p>
            <a:pPr marL="0" marR="0" lvl="0" indent="0" algn="ctr" rtl="0">
              <a:spcBef>
                <a:spcPts val="0"/>
              </a:spcBef>
              <a:spcAft>
                <a:spcPts val="0"/>
              </a:spcAft>
              <a:buNone/>
            </a:pPr>
            <a:r>
              <a:rPr sz="1400" b="0">
                <a:solidFill>
                  <a:srgbClr val="232B30"/>
                </a:solidFill>
                <a:latin typeface="Aptos"/>
              </a:rPr>
              <a:t>September 2026</a:t>
            </a:r>
            <a:endParaRPr sz="1800" b="0" i="0" u="none" strike="noStrike" cap="none">
              <a:solidFill>
                <a:srgbClr val="1C3E44"/>
              </a:solidFill>
              <a:latin typeface="Cambria Math"/>
              <a:ea typeface="Cambria Math"/>
              <a:cs typeface="Cambria Math"/>
              <a:sym typeface="Cambria Math"/>
            </a:endParaRPr>
          </a:p>
        </p:txBody>
      </p:sp>
      <p:sp>
        <p:nvSpPr>
          <p:cNvPr id="91" name="Google Shape;91;p1"/>
          <p:cNvSpPr txBox="1"/>
          <p:nvPr/>
        </p:nvSpPr>
        <p:spPr>
          <a:xfrm>
            <a:off x="1783080" y="658368"/>
            <a:ext cx="6583680" cy="1371600"/>
          </a:xfrm>
          <a:prstGeom prst="rect">
            <a:avLst/>
          </a:prstGeom>
          <a:noFill/>
          <a:ln>
            <a:noFill/>
          </a:ln>
        </p:spPr>
        <p:txBody>
          <a:bodyPr spcFirstLastPara="1" wrap="square" lIns="36576" tIns="27432" rIns="36576" bIns="27432" anchor="b" anchorCtr="0">
            <a:noAutofit/>
          </a:bodyPr>
          <a:lstStyle/>
          <a:p>
            <a:pPr marL="0" marR="0" lvl="0" indent="0" algn="l" rtl="0">
              <a:lnSpc>
                <a:spcPct val="90000"/>
              </a:lnSpc>
              <a:spcBef>
                <a:spcPts val="0"/>
              </a:spcBef>
              <a:spcAft>
                <a:spcPts val="0"/>
              </a:spcAft>
              <a:buClr>
                <a:srgbClr val="000000"/>
              </a:buClr>
              <a:buSzPts val="5000"/>
              <a:buFont typeface="Cambria"/>
              <a:buNone/>
            </a:pPr>
            <a:r>
              <a:rPr sz="2600" b="1">
                <a:solidFill>
                  <a:srgbClr val="232B30"/>
                </a:solidFill>
                <a:latin typeface="Aptos Display"/>
              </a:rPr>
              <a:t>Predicting Next-Day Movement of Indian Stock Market Sectors
Based on Geopolitical Risks</a:t>
            </a:r>
            <a:endParaRPr/>
          </a:p>
        </p:txBody>
      </p:sp>
      <p:pic>
        <p:nvPicPr>
          <p:cNvPr id="92" name="Google Shape;92;p1"/>
          <p:cNvPicPr preferRelativeResize="0"/>
          <p:nvPr/>
        </p:nvPicPr>
        <p:blipFill rotWithShape="1">
          <a:blip r:embed="rId3">
            <a:alphaModFix/>
          </a:blip>
          <a:srcRect l="27333" t="4286" r="27334" b="4285"/>
          <a:stretch/>
        </p:blipFill>
        <p:spPr>
          <a:xfrm>
            <a:off x="3313" y="107903"/>
            <a:ext cx="1655064" cy="1730294"/>
          </a:xfrm>
          <a:prstGeom prst="rect">
            <a:avLst/>
          </a:prstGeom>
          <a:noFill/>
          <a:ln>
            <a:noFill/>
          </a:ln>
        </p:spPr>
      </p:pic>
      <p:sp>
        <p:nvSpPr>
          <p:cNvPr id="93" name="Google Shape;93;p1"/>
          <p:cNvSpPr txBox="1"/>
          <p:nvPr/>
        </p:nvSpPr>
        <p:spPr>
          <a:xfrm>
            <a:off x="594360" y="4709160"/>
            <a:ext cx="2926080" cy="914400"/>
          </a:xfrm>
          <a:prstGeom prst="rect">
            <a:avLst/>
          </a:prstGeom>
          <a:noFill/>
          <a:ln>
            <a:noFill/>
          </a:ln>
        </p:spPr>
        <p:txBody>
          <a:bodyPr spcFirstLastPara="1" wrap="square" lIns="36576" tIns="27432" rIns="36576" bIns="27432" anchor="t" anchorCtr="0">
            <a:noAutofit/>
          </a:bodyPr>
          <a:lstStyle/>
          <a:p>
            <a:pPr marL="0" marR="0" lvl="0" indent="0" algn="l" rtl="0">
              <a:lnSpc>
                <a:spcPct val="90000"/>
              </a:lnSpc>
              <a:spcBef>
                <a:spcPts val="0"/>
              </a:spcBef>
              <a:spcAft>
                <a:spcPts val="0"/>
              </a:spcAft>
              <a:buClr>
                <a:schemeClr val="dk1"/>
              </a:buClr>
              <a:buSzPts val="2100"/>
              <a:buFont typeface="Arial"/>
              <a:buNone/>
            </a:pPr>
            <a:r>
              <a:rPr sz="1400" b="0">
                <a:solidFill>
                  <a:srgbClr val="232B30"/>
                </a:solidFill>
                <a:latin typeface="Aptos"/>
              </a:rPr>
              <a:t>External Guide
Not Applicable</a:t>
            </a:r>
            <a:endParaRPr/>
          </a:p>
        </p:txBody>
      </p:sp>
      <p:sp>
        <p:nvSpPr>
          <p:cNvPr id="94" name="Google Shape;94;p1"/>
          <p:cNvSpPr txBox="1"/>
          <p:nvPr/>
        </p:nvSpPr>
        <p:spPr>
          <a:xfrm>
            <a:off x="5897880" y="4709160"/>
            <a:ext cx="2743200" cy="1097280"/>
          </a:xfrm>
          <a:prstGeom prst="rect">
            <a:avLst/>
          </a:prstGeom>
          <a:noFill/>
          <a:ln>
            <a:noFill/>
          </a:ln>
        </p:spPr>
        <p:txBody>
          <a:bodyPr spcFirstLastPara="1" wrap="square" lIns="36576" tIns="27432" rIns="36576" bIns="27432" anchor="t" anchorCtr="0">
            <a:noAutofit/>
          </a:bodyPr>
          <a:lstStyle/>
          <a:p>
            <a:pPr marL="0" marR="0" lvl="0" indent="0" algn="l" rtl="0">
              <a:lnSpc>
                <a:spcPct val="90000"/>
              </a:lnSpc>
              <a:spcBef>
                <a:spcPts val="0"/>
              </a:spcBef>
              <a:spcAft>
                <a:spcPts val="0"/>
              </a:spcAft>
              <a:buClr>
                <a:schemeClr val="dk1"/>
              </a:buClr>
              <a:buSzPts val="2100"/>
              <a:buFont typeface="Arial"/>
              <a:buNone/>
            </a:pPr>
            <a:r>
              <a:rPr sz="1400" b="0">
                <a:solidFill>
                  <a:srgbClr val="232B30"/>
                </a:solidFill>
                <a:latin typeface="Aptos"/>
              </a:rPr>
              <a:t>Internal Guide
Dr. Bhavna Saini
Assistant Professor
Department of Data Science &amp; Analytics</a:t>
            </a:r>
            <a:endParaRPr/>
          </a:p>
        </p:txBody>
      </p:sp>
      <p:sp>
        <p:nvSpPr>
          <p:cNvPr id="95" name="Google Shape;95;p1"/>
          <p:cNvSpPr txBox="1"/>
          <p:nvPr/>
        </p:nvSpPr>
        <p:spPr>
          <a:xfrm>
            <a:off x="3108960" y="4160520"/>
            <a:ext cx="2926080" cy="365760"/>
          </a:xfrm>
          <a:prstGeom prst="rect">
            <a:avLst/>
          </a:prstGeom>
          <a:noFill/>
          <a:ln>
            <a:noFill/>
          </a:ln>
        </p:spPr>
        <p:txBody>
          <a:bodyPr spcFirstLastPara="1" wrap="square" lIns="36576" tIns="27432" rIns="36576" bIns="27432" anchor="t" anchorCtr="0">
            <a:noAutofit/>
          </a:bodyPr>
          <a:lstStyle/>
          <a:p>
            <a:pPr marL="0" marR="0" lvl="0" indent="0" algn="ctr" rtl="0">
              <a:lnSpc>
                <a:spcPct val="90000"/>
              </a:lnSpc>
              <a:spcBef>
                <a:spcPts val="0"/>
              </a:spcBef>
              <a:spcAft>
                <a:spcPts val="0"/>
              </a:spcAft>
              <a:buClr>
                <a:schemeClr val="dk1"/>
              </a:buClr>
              <a:buSzPts val="2100"/>
              <a:buFont typeface="Arial"/>
              <a:buNone/>
            </a:pPr>
            <a:r>
              <a:rPr sz="1500" b="0">
                <a:solidFill>
                  <a:srgbClr val="232B30"/>
                </a:solidFill>
                <a:latin typeface="Aptos"/>
              </a:rPr>
              <a:t>Under the guidance of</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TextBox 99"/>
          <p:cNvSpPr txBox="1"/>
          <p:nvPr/>
        </p:nvSpPr>
        <p:spPr>
          <a:xfrm>
            <a:off x="502920" y="256032"/>
            <a:ext cx="7680960" cy="411480"/>
          </a:xfrm>
          <a:prstGeom prst="rect">
            <a:avLst/>
          </a:prstGeom>
          <a:noFill/>
        </p:spPr>
        <p:txBody>
          <a:bodyPr wrap="square" anchor="t">
            <a:spAutoFit/>
          </a:bodyPr>
          <a:lstStyle/>
          <a:p>
            <a:pPr algn="l"/>
            <a:r>
              <a:rPr sz="2500" b="1">
                <a:solidFill>
                  <a:srgbClr val="22374C"/>
                </a:solidFill>
                <a:latin typeface="Cambria"/>
              </a:rPr>
              <a:t>Contents</a:t>
            </a:r>
          </a:p>
        </p:txBody>
      </p:sp>
      <p:sp>
        <p:nvSpPr>
          <p:cNvPr id="101" name="Rectangle 100"/>
          <p:cNvSpPr/>
          <p:nvPr/>
        </p:nvSpPr>
        <p:spPr>
          <a:xfrm>
            <a:off x="502920" y="758952"/>
            <a:ext cx="8138160" cy="16459"/>
          </a:xfrm>
          <a:prstGeom prst="rect">
            <a:avLst/>
          </a:prstGeom>
          <a:solidFill>
            <a:srgbClr val="375C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8339327" y="283464"/>
            <a:ext cx="320040" cy="228600"/>
          </a:xfrm>
          <a:prstGeom prst="rect">
            <a:avLst/>
          </a:prstGeom>
          <a:noFill/>
        </p:spPr>
        <p:txBody>
          <a:bodyPr wrap="square" anchor="t">
            <a:spAutoFit/>
          </a:bodyPr>
          <a:lstStyle/>
          <a:p>
            <a:pPr algn="r"/>
            <a:r>
              <a:rPr sz="1000" b="0">
                <a:solidFill>
                  <a:srgbClr val="5C6268"/>
                </a:solidFill>
                <a:latin typeface="Aptos"/>
              </a:rPr>
              <a:t>2</a:t>
            </a:r>
          </a:p>
        </p:txBody>
      </p:sp>
      <p:sp>
        <p:nvSpPr>
          <p:cNvPr id="103" name="TextBox 102"/>
          <p:cNvSpPr txBox="1"/>
          <p:nvPr/>
        </p:nvSpPr>
        <p:spPr>
          <a:xfrm>
            <a:off x="685800" y="1143000"/>
            <a:ext cx="438912" cy="274320"/>
          </a:xfrm>
          <a:prstGeom prst="rect">
            <a:avLst/>
          </a:prstGeom>
          <a:noFill/>
        </p:spPr>
        <p:txBody>
          <a:bodyPr wrap="square" anchor="ctr">
            <a:spAutoFit/>
          </a:bodyPr>
          <a:lstStyle/>
          <a:p>
            <a:pPr algn="ctr"/>
            <a:r>
              <a:rPr sz="1100" b="1">
                <a:solidFill>
                  <a:srgbClr val="FFFFFF"/>
                </a:solidFill>
                <a:latin typeface="Aptos"/>
              </a:rPr>
              <a:t>01</a:t>
            </a:r>
          </a:p>
        </p:txBody>
      </p:sp>
      <p:sp>
        <p:nvSpPr>
          <p:cNvPr id="104" name="Rectangle 103"/>
          <p:cNvSpPr/>
          <p:nvPr/>
        </p:nvSpPr>
        <p:spPr>
          <a:xfrm>
            <a:off x="685800" y="1143000"/>
            <a:ext cx="438912" cy="274320"/>
          </a:xfrm>
          <a:prstGeom prst="rect">
            <a:avLst/>
          </a:prstGeom>
          <a:solidFill>
            <a:srgbClr val="375C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p:cNvSpPr txBox="1"/>
          <p:nvPr/>
        </p:nvSpPr>
        <p:spPr>
          <a:xfrm>
            <a:off x="685800" y="1143000"/>
            <a:ext cx="438912" cy="274320"/>
          </a:xfrm>
          <a:prstGeom prst="rect">
            <a:avLst/>
          </a:prstGeom>
          <a:solidFill>
            <a:schemeClr val="bg2"/>
          </a:solidFill>
          <a:ln>
            <a:solidFill>
              <a:schemeClr val="bg2"/>
            </a:solidFill>
          </a:ln>
        </p:spPr>
        <p:txBody>
          <a:bodyPr wrap="square" anchor="ctr">
            <a:spAutoFit/>
          </a:bodyPr>
          <a:lstStyle/>
          <a:p>
            <a:pPr algn="ctr"/>
            <a:r>
              <a:rPr sz="1000" b="1" dirty="0">
                <a:solidFill>
                  <a:srgbClr val="FFFFFF"/>
                </a:solidFill>
                <a:latin typeface="Aptos"/>
              </a:rPr>
              <a:t>01</a:t>
            </a:r>
          </a:p>
        </p:txBody>
      </p:sp>
      <p:sp>
        <p:nvSpPr>
          <p:cNvPr id="106" name="TextBox 105"/>
          <p:cNvSpPr txBox="1"/>
          <p:nvPr/>
        </p:nvSpPr>
        <p:spPr>
          <a:xfrm>
            <a:off x="1280160" y="1124712"/>
            <a:ext cx="2971800" cy="320040"/>
          </a:xfrm>
          <a:prstGeom prst="rect">
            <a:avLst/>
          </a:prstGeom>
          <a:noFill/>
        </p:spPr>
        <p:txBody>
          <a:bodyPr wrap="square" anchor="t">
            <a:spAutoFit/>
          </a:bodyPr>
          <a:lstStyle/>
          <a:p>
            <a:pPr algn="l"/>
            <a:r>
              <a:rPr sz="1500" b="0" dirty="0">
                <a:solidFill>
                  <a:srgbClr val="282C30"/>
                </a:solidFill>
                <a:latin typeface="Cambria"/>
              </a:rPr>
              <a:t>Introduction</a:t>
            </a:r>
          </a:p>
        </p:txBody>
      </p:sp>
      <p:sp>
        <p:nvSpPr>
          <p:cNvPr id="108" name="TextBox 107"/>
          <p:cNvSpPr txBox="1"/>
          <p:nvPr/>
        </p:nvSpPr>
        <p:spPr>
          <a:xfrm>
            <a:off x="685800" y="1984248"/>
            <a:ext cx="438912" cy="274320"/>
          </a:xfrm>
          <a:prstGeom prst="rect">
            <a:avLst/>
          </a:prstGeom>
          <a:noFill/>
        </p:spPr>
        <p:txBody>
          <a:bodyPr wrap="square" anchor="ctr">
            <a:spAutoFit/>
          </a:bodyPr>
          <a:lstStyle/>
          <a:p>
            <a:pPr algn="ctr"/>
            <a:r>
              <a:rPr sz="1100" b="1">
                <a:solidFill>
                  <a:srgbClr val="FFFFFF"/>
                </a:solidFill>
                <a:latin typeface="Aptos"/>
              </a:rPr>
              <a:t>02</a:t>
            </a:r>
          </a:p>
        </p:txBody>
      </p:sp>
      <p:sp>
        <p:nvSpPr>
          <p:cNvPr id="109" name="Rectangle 108"/>
          <p:cNvSpPr/>
          <p:nvPr/>
        </p:nvSpPr>
        <p:spPr>
          <a:xfrm>
            <a:off x="685800" y="1984248"/>
            <a:ext cx="438912" cy="274320"/>
          </a:xfrm>
          <a:prstGeom prst="rect">
            <a:avLst/>
          </a:prstGeom>
          <a:solidFill>
            <a:srgbClr val="375C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685800" y="1984248"/>
            <a:ext cx="438912" cy="274320"/>
          </a:xfrm>
          <a:prstGeom prst="rect">
            <a:avLst/>
          </a:prstGeom>
          <a:solidFill>
            <a:schemeClr val="bg2"/>
          </a:solidFill>
        </p:spPr>
        <p:txBody>
          <a:bodyPr wrap="square" anchor="ctr">
            <a:spAutoFit/>
          </a:bodyPr>
          <a:lstStyle/>
          <a:p>
            <a:pPr algn="ctr"/>
            <a:r>
              <a:rPr sz="1000" b="1" dirty="0">
                <a:solidFill>
                  <a:srgbClr val="FFFFFF"/>
                </a:solidFill>
                <a:latin typeface="Aptos"/>
              </a:rPr>
              <a:t>02</a:t>
            </a:r>
          </a:p>
        </p:txBody>
      </p:sp>
      <p:sp>
        <p:nvSpPr>
          <p:cNvPr id="111" name="TextBox 110"/>
          <p:cNvSpPr txBox="1"/>
          <p:nvPr/>
        </p:nvSpPr>
        <p:spPr>
          <a:xfrm>
            <a:off x="1280160" y="1965960"/>
            <a:ext cx="2971800" cy="320040"/>
          </a:xfrm>
          <a:prstGeom prst="rect">
            <a:avLst/>
          </a:prstGeom>
          <a:noFill/>
        </p:spPr>
        <p:txBody>
          <a:bodyPr wrap="square" anchor="t">
            <a:spAutoFit/>
          </a:bodyPr>
          <a:lstStyle/>
          <a:p>
            <a:pPr algn="l"/>
            <a:r>
              <a:rPr sz="1500" b="0">
                <a:solidFill>
                  <a:srgbClr val="282C30"/>
                </a:solidFill>
                <a:latin typeface="Cambria"/>
              </a:rPr>
              <a:t>Literature Survey</a:t>
            </a:r>
          </a:p>
        </p:txBody>
      </p:sp>
      <p:sp>
        <p:nvSpPr>
          <p:cNvPr id="113" name="TextBox 112"/>
          <p:cNvSpPr txBox="1"/>
          <p:nvPr/>
        </p:nvSpPr>
        <p:spPr>
          <a:xfrm>
            <a:off x="685800" y="2825496"/>
            <a:ext cx="438912" cy="274320"/>
          </a:xfrm>
          <a:prstGeom prst="rect">
            <a:avLst/>
          </a:prstGeom>
          <a:noFill/>
        </p:spPr>
        <p:txBody>
          <a:bodyPr wrap="square" anchor="ctr">
            <a:spAutoFit/>
          </a:bodyPr>
          <a:lstStyle/>
          <a:p>
            <a:pPr algn="ctr"/>
            <a:r>
              <a:rPr sz="1100" b="1">
                <a:solidFill>
                  <a:srgbClr val="FFFFFF"/>
                </a:solidFill>
                <a:latin typeface="Aptos"/>
              </a:rPr>
              <a:t>03</a:t>
            </a:r>
          </a:p>
        </p:txBody>
      </p:sp>
      <p:sp>
        <p:nvSpPr>
          <p:cNvPr id="114" name="Rectangle 113"/>
          <p:cNvSpPr/>
          <p:nvPr/>
        </p:nvSpPr>
        <p:spPr>
          <a:xfrm>
            <a:off x="685800" y="2825496"/>
            <a:ext cx="438912" cy="274320"/>
          </a:xfrm>
          <a:prstGeom prst="rect">
            <a:avLst/>
          </a:prstGeom>
          <a:solidFill>
            <a:srgbClr val="375C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TextBox 114"/>
          <p:cNvSpPr txBox="1"/>
          <p:nvPr/>
        </p:nvSpPr>
        <p:spPr>
          <a:xfrm>
            <a:off x="685800" y="2825496"/>
            <a:ext cx="438912" cy="274320"/>
          </a:xfrm>
          <a:prstGeom prst="rect">
            <a:avLst/>
          </a:prstGeom>
          <a:solidFill>
            <a:schemeClr val="bg2"/>
          </a:solidFill>
        </p:spPr>
        <p:txBody>
          <a:bodyPr wrap="square" anchor="ctr">
            <a:spAutoFit/>
          </a:bodyPr>
          <a:lstStyle/>
          <a:p>
            <a:pPr algn="ctr"/>
            <a:r>
              <a:rPr sz="1000" b="1">
                <a:solidFill>
                  <a:srgbClr val="FFFFFF"/>
                </a:solidFill>
                <a:latin typeface="Aptos"/>
              </a:rPr>
              <a:t>03</a:t>
            </a:r>
          </a:p>
        </p:txBody>
      </p:sp>
      <p:sp>
        <p:nvSpPr>
          <p:cNvPr id="116" name="TextBox 115"/>
          <p:cNvSpPr txBox="1"/>
          <p:nvPr/>
        </p:nvSpPr>
        <p:spPr>
          <a:xfrm>
            <a:off x="1280160" y="2807208"/>
            <a:ext cx="2971800" cy="320040"/>
          </a:xfrm>
          <a:prstGeom prst="rect">
            <a:avLst/>
          </a:prstGeom>
          <a:noFill/>
        </p:spPr>
        <p:txBody>
          <a:bodyPr wrap="square" anchor="t">
            <a:spAutoFit/>
          </a:bodyPr>
          <a:lstStyle/>
          <a:p>
            <a:pPr algn="l"/>
            <a:r>
              <a:rPr sz="1500" b="0">
                <a:solidFill>
                  <a:srgbClr val="282C30"/>
                </a:solidFill>
                <a:latin typeface="Cambria"/>
              </a:rPr>
              <a:t>Objectives</a:t>
            </a:r>
          </a:p>
        </p:txBody>
      </p:sp>
      <p:sp>
        <p:nvSpPr>
          <p:cNvPr id="118" name="TextBox 117"/>
          <p:cNvSpPr txBox="1"/>
          <p:nvPr/>
        </p:nvSpPr>
        <p:spPr>
          <a:xfrm>
            <a:off x="685800" y="3666744"/>
            <a:ext cx="438912" cy="274320"/>
          </a:xfrm>
          <a:prstGeom prst="rect">
            <a:avLst/>
          </a:prstGeom>
          <a:noFill/>
        </p:spPr>
        <p:txBody>
          <a:bodyPr wrap="square" anchor="ctr">
            <a:spAutoFit/>
          </a:bodyPr>
          <a:lstStyle/>
          <a:p>
            <a:pPr algn="ctr"/>
            <a:r>
              <a:rPr sz="1100" b="1">
                <a:solidFill>
                  <a:srgbClr val="FFFFFF"/>
                </a:solidFill>
                <a:latin typeface="Aptos"/>
              </a:rPr>
              <a:t>04</a:t>
            </a:r>
          </a:p>
        </p:txBody>
      </p:sp>
      <p:sp>
        <p:nvSpPr>
          <p:cNvPr id="119" name="Rectangle 118"/>
          <p:cNvSpPr/>
          <p:nvPr/>
        </p:nvSpPr>
        <p:spPr>
          <a:xfrm>
            <a:off x="685800" y="3666744"/>
            <a:ext cx="438912" cy="274320"/>
          </a:xfrm>
          <a:prstGeom prst="rect">
            <a:avLst/>
          </a:prstGeom>
          <a:solidFill>
            <a:srgbClr val="375C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TextBox 119"/>
          <p:cNvSpPr txBox="1"/>
          <p:nvPr/>
        </p:nvSpPr>
        <p:spPr>
          <a:xfrm>
            <a:off x="685800" y="3666744"/>
            <a:ext cx="438912" cy="274320"/>
          </a:xfrm>
          <a:prstGeom prst="rect">
            <a:avLst/>
          </a:prstGeom>
          <a:solidFill>
            <a:schemeClr val="bg2"/>
          </a:solidFill>
        </p:spPr>
        <p:txBody>
          <a:bodyPr wrap="square" anchor="ctr">
            <a:spAutoFit/>
          </a:bodyPr>
          <a:lstStyle/>
          <a:p>
            <a:pPr algn="ctr"/>
            <a:r>
              <a:rPr sz="1000" b="1">
                <a:solidFill>
                  <a:srgbClr val="FFFFFF"/>
                </a:solidFill>
                <a:latin typeface="Aptos"/>
              </a:rPr>
              <a:t>04</a:t>
            </a:r>
          </a:p>
        </p:txBody>
      </p:sp>
      <p:sp>
        <p:nvSpPr>
          <p:cNvPr id="121" name="TextBox 120"/>
          <p:cNvSpPr txBox="1"/>
          <p:nvPr/>
        </p:nvSpPr>
        <p:spPr>
          <a:xfrm>
            <a:off x="1280160" y="3648456"/>
            <a:ext cx="2971800" cy="320040"/>
          </a:xfrm>
          <a:prstGeom prst="rect">
            <a:avLst/>
          </a:prstGeom>
          <a:noFill/>
        </p:spPr>
        <p:txBody>
          <a:bodyPr wrap="square" anchor="t">
            <a:spAutoFit/>
          </a:bodyPr>
          <a:lstStyle/>
          <a:p>
            <a:pPr algn="l"/>
            <a:r>
              <a:rPr sz="1500" b="0">
                <a:solidFill>
                  <a:srgbClr val="282C30"/>
                </a:solidFill>
                <a:latin typeface="Cambria"/>
              </a:rPr>
              <a:t>Methodology</a:t>
            </a:r>
          </a:p>
        </p:txBody>
      </p:sp>
      <p:sp>
        <p:nvSpPr>
          <p:cNvPr id="123" name="TextBox 122"/>
          <p:cNvSpPr txBox="1"/>
          <p:nvPr/>
        </p:nvSpPr>
        <p:spPr>
          <a:xfrm>
            <a:off x="685800" y="4507992"/>
            <a:ext cx="438912" cy="274320"/>
          </a:xfrm>
          <a:prstGeom prst="rect">
            <a:avLst/>
          </a:prstGeom>
          <a:noFill/>
        </p:spPr>
        <p:txBody>
          <a:bodyPr wrap="square" anchor="ctr">
            <a:spAutoFit/>
          </a:bodyPr>
          <a:lstStyle/>
          <a:p>
            <a:pPr algn="ctr"/>
            <a:r>
              <a:rPr sz="1100" b="1">
                <a:solidFill>
                  <a:srgbClr val="FFFFFF"/>
                </a:solidFill>
                <a:latin typeface="Aptos"/>
              </a:rPr>
              <a:t>05</a:t>
            </a:r>
          </a:p>
        </p:txBody>
      </p:sp>
      <p:sp>
        <p:nvSpPr>
          <p:cNvPr id="124" name="Rectangle 123"/>
          <p:cNvSpPr/>
          <p:nvPr/>
        </p:nvSpPr>
        <p:spPr>
          <a:xfrm>
            <a:off x="685800" y="4507992"/>
            <a:ext cx="438912" cy="274320"/>
          </a:xfrm>
          <a:prstGeom prst="rect">
            <a:avLst/>
          </a:prstGeom>
          <a:solidFill>
            <a:srgbClr val="375C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TextBox 124"/>
          <p:cNvSpPr txBox="1"/>
          <p:nvPr/>
        </p:nvSpPr>
        <p:spPr>
          <a:xfrm>
            <a:off x="685800" y="4507992"/>
            <a:ext cx="438912" cy="274320"/>
          </a:xfrm>
          <a:prstGeom prst="rect">
            <a:avLst/>
          </a:prstGeom>
          <a:solidFill>
            <a:schemeClr val="bg2"/>
          </a:solidFill>
        </p:spPr>
        <p:txBody>
          <a:bodyPr wrap="square" anchor="ctr">
            <a:spAutoFit/>
          </a:bodyPr>
          <a:lstStyle/>
          <a:p>
            <a:pPr algn="ctr"/>
            <a:r>
              <a:rPr sz="1000" b="1">
                <a:solidFill>
                  <a:srgbClr val="FFFFFF"/>
                </a:solidFill>
                <a:latin typeface="Aptos"/>
              </a:rPr>
              <a:t>05</a:t>
            </a:r>
          </a:p>
        </p:txBody>
      </p:sp>
      <p:sp>
        <p:nvSpPr>
          <p:cNvPr id="126" name="TextBox 125"/>
          <p:cNvSpPr txBox="1"/>
          <p:nvPr/>
        </p:nvSpPr>
        <p:spPr>
          <a:xfrm>
            <a:off x="1280160" y="4489704"/>
            <a:ext cx="2971800" cy="320040"/>
          </a:xfrm>
          <a:prstGeom prst="rect">
            <a:avLst/>
          </a:prstGeom>
          <a:noFill/>
        </p:spPr>
        <p:txBody>
          <a:bodyPr wrap="square" anchor="t">
            <a:spAutoFit/>
          </a:bodyPr>
          <a:lstStyle/>
          <a:p>
            <a:pPr algn="l"/>
            <a:r>
              <a:rPr sz="1500" b="0">
                <a:solidFill>
                  <a:srgbClr val="282C30"/>
                </a:solidFill>
                <a:latin typeface="Cambria"/>
              </a:rPr>
              <a:t>Graph Construction</a:t>
            </a:r>
          </a:p>
        </p:txBody>
      </p:sp>
      <p:sp>
        <p:nvSpPr>
          <p:cNvPr id="128" name="TextBox 127"/>
          <p:cNvSpPr txBox="1"/>
          <p:nvPr/>
        </p:nvSpPr>
        <p:spPr>
          <a:xfrm>
            <a:off x="4754880" y="1143000"/>
            <a:ext cx="438912" cy="274320"/>
          </a:xfrm>
          <a:prstGeom prst="rect">
            <a:avLst/>
          </a:prstGeom>
          <a:noFill/>
        </p:spPr>
        <p:txBody>
          <a:bodyPr wrap="square" anchor="ctr">
            <a:spAutoFit/>
          </a:bodyPr>
          <a:lstStyle/>
          <a:p>
            <a:pPr algn="ctr"/>
            <a:r>
              <a:rPr sz="1100" b="1">
                <a:solidFill>
                  <a:srgbClr val="FFFFFF"/>
                </a:solidFill>
                <a:latin typeface="Aptos"/>
              </a:rPr>
              <a:t>06</a:t>
            </a:r>
          </a:p>
        </p:txBody>
      </p:sp>
      <p:sp>
        <p:nvSpPr>
          <p:cNvPr id="129" name="Rectangle 128"/>
          <p:cNvSpPr/>
          <p:nvPr/>
        </p:nvSpPr>
        <p:spPr>
          <a:xfrm>
            <a:off x="4754880" y="1143000"/>
            <a:ext cx="438912" cy="274320"/>
          </a:xfrm>
          <a:prstGeom prst="rect">
            <a:avLst/>
          </a:prstGeom>
          <a:solidFill>
            <a:srgbClr val="2D7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129"/>
          <p:cNvSpPr txBox="1"/>
          <p:nvPr/>
        </p:nvSpPr>
        <p:spPr>
          <a:xfrm>
            <a:off x="4754880" y="1143000"/>
            <a:ext cx="438912" cy="274320"/>
          </a:xfrm>
          <a:prstGeom prst="rect">
            <a:avLst/>
          </a:prstGeom>
          <a:solidFill>
            <a:schemeClr val="bg2"/>
          </a:solidFill>
        </p:spPr>
        <p:txBody>
          <a:bodyPr wrap="square" anchor="ctr">
            <a:spAutoFit/>
          </a:bodyPr>
          <a:lstStyle/>
          <a:p>
            <a:pPr algn="ctr"/>
            <a:r>
              <a:rPr sz="1000" b="1" dirty="0">
                <a:solidFill>
                  <a:srgbClr val="FFFFFF"/>
                </a:solidFill>
                <a:latin typeface="Aptos"/>
              </a:rPr>
              <a:t>06</a:t>
            </a:r>
          </a:p>
        </p:txBody>
      </p:sp>
      <p:sp>
        <p:nvSpPr>
          <p:cNvPr id="131" name="TextBox 130"/>
          <p:cNvSpPr txBox="1"/>
          <p:nvPr/>
        </p:nvSpPr>
        <p:spPr>
          <a:xfrm>
            <a:off x="5349240" y="1124712"/>
            <a:ext cx="2971800" cy="320040"/>
          </a:xfrm>
          <a:prstGeom prst="rect">
            <a:avLst/>
          </a:prstGeom>
          <a:noFill/>
        </p:spPr>
        <p:txBody>
          <a:bodyPr wrap="square" anchor="t">
            <a:spAutoFit/>
          </a:bodyPr>
          <a:lstStyle/>
          <a:p>
            <a:pPr algn="l"/>
            <a:r>
              <a:rPr sz="1500" b="0">
                <a:solidFill>
                  <a:srgbClr val="282C30"/>
                </a:solidFill>
                <a:latin typeface="Cambria"/>
              </a:rPr>
              <a:t>GNN Message Passing</a:t>
            </a:r>
          </a:p>
        </p:txBody>
      </p:sp>
      <p:sp>
        <p:nvSpPr>
          <p:cNvPr id="133" name="TextBox 132"/>
          <p:cNvSpPr txBox="1"/>
          <p:nvPr/>
        </p:nvSpPr>
        <p:spPr>
          <a:xfrm>
            <a:off x="4754880" y="1984248"/>
            <a:ext cx="438912" cy="274320"/>
          </a:xfrm>
          <a:prstGeom prst="rect">
            <a:avLst/>
          </a:prstGeom>
          <a:noFill/>
        </p:spPr>
        <p:txBody>
          <a:bodyPr wrap="square" anchor="ctr">
            <a:spAutoFit/>
          </a:bodyPr>
          <a:lstStyle/>
          <a:p>
            <a:pPr algn="ctr"/>
            <a:r>
              <a:rPr sz="1100" b="1">
                <a:solidFill>
                  <a:srgbClr val="FFFFFF"/>
                </a:solidFill>
                <a:latin typeface="Aptos"/>
              </a:rPr>
              <a:t>07</a:t>
            </a:r>
          </a:p>
        </p:txBody>
      </p:sp>
      <p:sp>
        <p:nvSpPr>
          <p:cNvPr id="134" name="Rectangle 133"/>
          <p:cNvSpPr/>
          <p:nvPr/>
        </p:nvSpPr>
        <p:spPr>
          <a:xfrm>
            <a:off x="4754880" y="1984248"/>
            <a:ext cx="438912" cy="274320"/>
          </a:xfrm>
          <a:prstGeom prst="rect">
            <a:avLst/>
          </a:prstGeom>
          <a:solidFill>
            <a:srgbClr val="2D7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TextBox 134"/>
          <p:cNvSpPr txBox="1"/>
          <p:nvPr/>
        </p:nvSpPr>
        <p:spPr>
          <a:xfrm>
            <a:off x="4754880" y="1984248"/>
            <a:ext cx="438912" cy="274320"/>
          </a:xfrm>
          <a:prstGeom prst="rect">
            <a:avLst/>
          </a:prstGeom>
          <a:solidFill>
            <a:schemeClr val="bg2"/>
          </a:solidFill>
        </p:spPr>
        <p:txBody>
          <a:bodyPr wrap="square" anchor="ctr">
            <a:spAutoFit/>
          </a:bodyPr>
          <a:lstStyle/>
          <a:p>
            <a:pPr algn="ctr"/>
            <a:r>
              <a:rPr sz="1000" b="1" dirty="0">
                <a:solidFill>
                  <a:srgbClr val="FFFFFF"/>
                </a:solidFill>
                <a:latin typeface="Aptos"/>
              </a:rPr>
              <a:t>07</a:t>
            </a:r>
          </a:p>
        </p:txBody>
      </p:sp>
      <p:sp>
        <p:nvSpPr>
          <p:cNvPr id="136" name="TextBox 135"/>
          <p:cNvSpPr txBox="1"/>
          <p:nvPr/>
        </p:nvSpPr>
        <p:spPr>
          <a:xfrm>
            <a:off x="5349240" y="1965960"/>
            <a:ext cx="2971800" cy="320040"/>
          </a:xfrm>
          <a:prstGeom prst="rect">
            <a:avLst/>
          </a:prstGeom>
          <a:noFill/>
        </p:spPr>
        <p:txBody>
          <a:bodyPr wrap="square" anchor="t">
            <a:spAutoFit/>
          </a:bodyPr>
          <a:lstStyle/>
          <a:p>
            <a:pPr algn="l"/>
            <a:r>
              <a:rPr sz="1500" b="0">
                <a:solidFill>
                  <a:srgbClr val="282C30"/>
                </a:solidFill>
                <a:latin typeface="Cambria"/>
              </a:rPr>
              <a:t>Results &amp; Milestones</a:t>
            </a:r>
          </a:p>
        </p:txBody>
      </p:sp>
      <p:sp>
        <p:nvSpPr>
          <p:cNvPr id="138" name="TextBox 137"/>
          <p:cNvSpPr txBox="1"/>
          <p:nvPr/>
        </p:nvSpPr>
        <p:spPr>
          <a:xfrm>
            <a:off x="4754880" y="2825496"/>
            <a:ext cx="438912" cy="274320"/>
          </a:xfrm>
          <a:prstGeom prst="rect">
            <a:avLst/>
          </a:prstGeom>
          <a:noFill/>
        </p:spPr>
        <p:txBody>
          <a:bodyPr wrap="square" anchor="ctr">
            <a:spAutoFit/>
          </a:bodyPr>
          <a:lstStyle/>
          <a:p>
            <a:pPr algn="ctr"/>
            <a:r>
              <a:rPr sz="1100" b="1">
                <a:solidFill>
                  <a:srgbClr val="FFFFFF"/>
                </a:solidFill>
                <a:latin typeface="Aptos"/>
              </a:rPr>
              <a:t>08</a:t>
            </a:r>
          </a:p>
        </p:txBody>
      </p:sp>
      <p:sp>
        <p:nvSpPr>
          <p:cNvPr id="139" name="Rectangle 138"/>
          <p:cNvSpPr/>
          <p:nvPr/>
        </p:nvSpPr>
        <p:spPr>
          <a:xfrm>
            <a:off x="4754880" y="2825496"/>
            <a:ext cx="438912" cy="274320"/>
          </a:xfrm>
          <a:prstGeom prst="rect">
            <a:avLst/>
          </a:prstGeom>
          <a:solidFill>
            <a:srgbClr val="2D7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TextBox 139"/>
          <p:cNvSpPr txBox="1"/>
          <p:nvPr/>
        </p:nvSpPr>
        <p:spPr>
          <a:xfrm>
            <a:off x="4754880" y="2825496"/>
            <a:ext cx="438912" cy="274320"/>
          </a:xfrm>
          <a:prstGeom prst="rect">
            <a:avLst/>
          </a:prstGeom>
          <a:solidFill>
            <a:schemeClr val="bg2"/>
          </a:solidFill>
        </p:spPr>
        <p:txBody>
          <a:bodyPr wrap="square" anchor="ctr">
            <a:spAutoFit/>
          </a:bodyPr>
          <a:lstStyle/>
          <a:p>
            <a:pPr algn="ctr"/>
            <a:r>
              <a:rPr sz="1000" b="1">
                <a:solidFill>
                  <a:srgbClr val="FFFFFF"/>
                </a:solidFill>
                <a:latin typeface="Aptos"/>
              </a:rPr>
              <a:t>08</a:t>
            </a:r>
          </a:p>
        </p:txBody>
      </p:sp>
      <p:sp>
        <p:nvSpPr>
          <p:cNvPr id="141" name="TextBox 140"/>
          <p:cNvSpPr txBox="1"/>
          <p:nvPr/>
        </p:nvSpPr>
        <p:spPr>
          <a:xfrm>
            <a:off x="5349240" y="2807208"/>
            <a:ext cx="2971800" cy="320040"/>
          </a:xfrm>
          <a:prstGeom prst="rect">
            <a:avLst/>
          </a:prstGeom>
          <a:noFill/>
        </p:spPr>
        <p:txBody>
          <a:bodyPr wrap="square" anchor="t">
            <a:spAutoFit/>
          </a:bodyPr>
          <a:lstStyle/>
          <a:p>
            <a:pPr algn="l"/>
            <a:r>
              <a:rPr sz="1500" b="0">
                <a:solidFill>
                  <a:srgbClr val="282C30"/>
                </a:solidFill>
                <a:latin typeface="Cambria"/>
              </a:rPr>
              <a:t>Conclusion</a:t>
            </a:r>
          </a:p>
        </p:txBody>
      </p:sp>
      <p:sp>
        <p:nvSpPr>
          <p:cNvPr id="143" name="TextBox 142"/>
          <p:cNvSpPr txBox="1"/>
          <p:nvPr/>
        </p:nvSpPr>
        <p:spPr>
          <a:xfrm>
            <a:off x="4754880" y="3666744"/>
            <a:ext cx="438912" cy="274320"/>
          </a:xfrm>
          <a:prstGeom prst="rect">
            <a:avLst/>
          </a:prstGeom>
          <a:noFill/>
        </p:spPr>
        <p:txBody>
          <a:bodyPr wrap="square" anchor="ctr">
            <a:spAutoFit/>
          </a:bodyPr>
          <a:lstStyle/>
          <a:p>
            <a:pPr algn="ctr"/>
            <a:r>
              <a:rPr sz="1100" b="1">
                <a:solidFill>
                  <a:srgbClr val="FFFFFF"/>
                </a:solidFill>
                <a:latin typeface="Aptos"/>
              </a:rPr>
              <a:t>09</a:t>
            </a:r>
          </a:p>
        </p:txBody>
      </p:sp>
      <p:sp>
        <p:nvSpPr>
          <p:cNvPr id="144" name="Rectangle 143"/>
          <p:cNvSpPr/>
          <p:nvPr/>
        </p:nvSpPr>
        <p:spPr>
          <a:xfrm>
            <a:off x="4754880" y="3666744"/>
            <a:ext cx="438912" cy="274320"/>
          </a:xfrm>
          <a:prstGeom prst="rect">
            <a:avLst/>
          </a:prstGeom>
          <a:solidFill>
            <a:srgbClr val="2D7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TextBox 144"/>
          <p:cNvSpPr txBox="1"/>
          <p:nvPr/>
        </p:nvSpPr>
        <p:spPr>
          <a:xfrm>
            <a:off x="4754880" y="3666744"/>
            <a:ext cx="438912" cy="274320"/>
          </a:xfrm>
          <a:prstGeom prst="rect">
            <a:avLst/>
          </a:prstGeom>
          <a:solidFill>
            <a:schemeClr val="bg2"/>
          </a:solidFill>
        </p:spPr>
        <p:txBody>
          <a:bodyPr wrap="square" anchor="ctr">
            <a:spAutoFit/>
          </a:bodyPr>
          <a:lstStyle/>
          <a:p>
            <a:pPr algn="ctr"/>
            <a:r>
              <a:rPr sz="1000" b="1">
                <a:solidFill>
                  <a:srgbClr val="FFFFFF"/>
                </a:solidFill>
                <a:latin typeface="Aptos"/>
              </a:rPr>
              <a:t>09</a:t>
            </a:r>
          </a:p>
        </p:txBody>
      </p:sp>
      <p:sp>
        <p:nvSpPr>
          <p:cNvPr id="146" name="TextBox 145"/>
          <p:cNvSpPr txBox="1"/>
          <p:nvPr/>
        </p:nvSpPr>
        <p:spPr>
          <a:xfrm>
            <a:off x="5349240" y="3648456"/>
            <a:ext cx="2971800" cy="320040"/>
          </a:xfrm>
          <a:prstGeom prst="rect">
            <a:avLst/>
          </a:prstGeom>
          <a:noFill/>
        </p:spPr>
        <p:txBody>
          <a:bodyPr wrap="square" anchor="t">
            <a:spAutoFit/>
          </a:bodyPr>
          <a:lstStyle/>
          <a:p>
            <a:pPr algn="l"/>
            <a:r>
              <a:rPr sz="1500" b="0">
                <a:solidFill>
                  <a:srgbClr val="282C30"/>
                </a:solidFill>
                <a:latin typeface="Cambria"/>
              </a:rPr>
              <a:t>Future Work</a:t>
            </a:r>
          </a:p>
        </p:txBody>
      </p:sp>
      <p:sp>
        <p:nvSpPr>
          <p:cNvPr id="148" name="TextBox 147"/>
          <p:cNvSpPr txBox="1"/>
          <p:nvPr/>
        </p:nvSpPr>
        <p:spPr>
          <a:xfrm>
            <a:off x="4754880" y="4507992"/>
            <a:ext cx="438912" cy="274320"/>
          </a:xfrm>
          <a:prstGeom prst="rect">
            <a:avLst/>
          </a:prstGeom>
          <a:noFill/>
        </p:spPr>
        <p:txBody>
          <a:bodyPr wrap="square" anchor="ctr">
            <a:spAutoFit/>
          </a:bodyPr>
          <a:lstStyle/>
          <a:p>
            <a:pPr algn="ctr"/>
            <a:r>
              <a:rPr sz="1100" b="1">
                <a:solidFill>
                  <a:srgbClr val="FFFFFF"/>
                </a:solidFill>
                <a:latin typeface="Aptos"/>
              </a:rPr>
              <a:t>10</a:t>
            </a:r>
          </a:p>
        </p:txBody>
      </p:sp>
      <p:sp>
        <p:nvSpPr>
          <p:cNvPr id="149" name="Rectangle 148"/>
          <p:cNvSpPr/>
          <p:nvPr/>
        </p:nvSpPr>
        <p:spPr>
          <a:xfrm>
            <a:off x="4754880" y="4507992"/>
            <a:ext cx="438912" cy="274320"/>
          </a:xfrm>
          <a:prstGeom prst="rect">
            <a:avLst/>
          </a:prstGeom>
          <a:solidFill>
            <a:srgbClr val="2D7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TextBox 149"/>
          <p:cNvSpPr txBox="1"/>
          <p:nvPr/>
        </p:nvSpPr>
        <p:spPr>
          <a:xfrm>
            <a:off x="4754880" y="4507992"/>
            <a:ext cx="438912" cy="274320"/>
          </a:xfrm>
          <a:prstGeom prst="rect">
            <a:avLst/>
          </a:prstGeom>
          <a:solidFill>
            <a:schemeClr val="bg2"/>
          </a:solidFill>
        </p:spPr>
        <p:txBody>
          <a:bodyPr wrap="square" anchor="ctr">
            <a:spAutoFit/>
          </a:bodyPr>
          <a:lstStyle/>
          <a:p>
            <a:pPr algn="ctr"/>
            <a:r>
              <a:rPr sz="1000" b="1">
                <a:solidFill>
                  <a:srgbClr val="FFFFFF"/>
                </a:solidFill>
                <a:latin typeface="Aptos"/>
              </a:rPr>
              <a:t>10</a:t>
            </a:r>
          </a:p>
        </p:txBody>
      </p:sp>
      <p:sp>
        <p:nvSpPr>
          <p:cNvPr id="151" name="TextBox 150"/>
          <p:cNvSpPr txBox="1"/>
          <p:nvPr/>
        </p:nvSpPr>
        <p:spPr>
          <a:xfrm>
            <a:off x="5349240" y="4489704"/>
            <a:ext cx="2971800" cy="320040"/>
          </a:xfrm>
          <a:prstGeom prst="rect">
            <a:avLst/>
          </a:prstGeom>
          <a:noFill/>
        </p:spPr>
        <p:txBody>
          <a:bodyPr wrap="square" anchor="t">
            <a:spAutoFit/>
          </a:bodyPr>
          <a:lstStyle/>
          <a:p>
            <a:pPr algn="l"/>
            <a:r>
              <a:rPr sz="1500" b="0">
                <a:solidFill>
                  <a:srgbClr val="282C30"/>
                </a:solidFill>
                <a:latin typeface="Cambria"/>
              </a:rPr>
              <a:t>References</a:t>
            </a:r>
          </a:p>
        </p:txBody>
      </p:sp>
      <p:sp>
        <p:nvSpPr>
          <p:cNvPr id="153" name="TextBox 152"/>
          <p:cNvSpPr txBox="1"/>
          <p:nvPr/>
        </p:nvSpPr>
        <p:spPr>
          <a:xfrm>
            <a:off x="2743200" y="5806440"/>
            <a:ext cx="3657600" cy="274320"/>
          </a:xfrm>
          <a:prstGeom prst="rect">
            <a:avLst/>
          </a:prstGeom>
          <a:noFill/>
        </p:spPr>
        <p:txBody>
          <a:bodyPr wrap="square" anchor="t">
            <a:spAutoFit/>
          </a:bodyPr>
          <a:lstStyle/>
          <a:p>
            <a:pPr algn="ctr"/>
            <a:r>
              <a:rPr sz="1000" b="0">
                <a:solidFill>
                  <a:srgbClr val="5C6268"/>
                </a:solidFill>
                <a:latin typeface="Cambria"/>
              </a:rPr>
              <a:t>Problem → evidence → methodology → graph → results → 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TextBox 106"/>
          <p:cNvSpPr txBox="1"/>
          <p:nvPr/>
        </p:nvSpPr>
        <p:spPr>
          <a:xfrm>
            <a:off x="502920" y="256032"/>
            <a:ext cx="7680960" cy="411480"/>
          </a:xfrm>
          <a:prstGeom prst="rect">
            <a:avLst/>
          </a:prstGeom>
          <a:noFill/>
        </p:spPr>
        <p:txBody>
          <a:bodyPr wrap="square" anchor="t">
            <a:spAutoFit/>
          </a:bodyPr>
          <a:lstStyle/>
          <a:p>
            <a:pPr algn="l"/>
            <a:r>
              <a:rPr sz="2500" b="1">
                <a:solidFill>
                  <a:srgbClr val="22374C"/>
                </a:solidFill>
                <a:latin typeface="Cambria"/>
              </a:rPr>
              <a:t>Introduction</a:t>
            </a:r>
          </a:p>
        </p:txBody>
      </p:sp>
      <p:sp>
        <p:nvSpPr>
          <p:cNvPr id="108" name="Rectangle 107"/>
          <p:cNvSpPr/>
          <p:nvPr/>
        </p:nvSpPr>
        <p:spPr>
          <a:xfrm>
            <a:off x="502920" y="758952"/>
            <a:ext cx="8138160" cy="16459"/>
          </a:xfrm>
          <a:prstGeom prst="rect">
            <a:avLst/>
          </a:prstGeom>
          <a:solidFill>
            <a:srgbClr val="375C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8339327" y="283464"/>
            <a:ext cx="320040" cy="228600"/>
          </a:xfrm>
          <a:prstGeom prst="rect">
            <a:avLst/>
          </a:prstGeom>
          <a:noFill/>
        </p:spPr>
        <p:txBody>
          <a:bodyPr wrap="square" anchor="t">
            <a:spAutoFit/>
          </a:bodyPr>
          <a:lstStyle/>
          <a:p>
            <a:pPr algn="r"/>
            <a:r>
              <a:rPr sz="1000" b="0">
                <a:solidFill>
                  <a:srgbClr val="5C6268"/>
                </a:solidFill>
                <a:latin typeface="Aptos"/>
              </a:rPr>
              <a:t>3</a:t>
            </a:r>
          </a:p>
        </p:txBody>
      </p:sp>
      <p:sp>
        <p:nvSpPr>
          <p:cNvPr id="110" name="TextBox 109"/>
          <p:cNvSpPr txBox="1"/>
          <p:nvPr/>
        </p:nvSpPr>
        <p:spPr>
          <a:xfrm>
            <a:off x="640080" y="1051560"/>
            <a:ext cx="7680960" cy="457200"/>
          </a:xfrm>
          <a:prstGeom prst="rect">
            <a:avLst/>
          </a:prstGeom>
          <a:noFill/>
        </p:spPr>
        <p:txBody>
          <a:bodyPr wrap="square" anchor="t">
            <a:spAutoFit/>
          </a:bodyPr>
          <a:lstStyle/>
          <a:p>
            <a:pPr algn="l"/>
            <a:r>
              <a:rPr sz="1800" b="0">
                <a:solidFill>
                  <a:srgbClr val="282C30"/>
                </a:solidFill>
                <a:latin typeface="Cambria"/>
              </a:rPr>
              <a:t>The study asks whether the next-day direction of Indian sector indices can be predicted from market, macroeconomic and geopolitical information.</a:t>
            </a:r>
          </a:p>
        </p:txBody>
      </p:sp>
      <p:sp>
        <p:nvSpPr>
          <p:cNvPr id="111" name="TextBox 110"/>
          <p:cNvSpPr txBox="1"/>
          <p:nvPr/>
        </p:nvSpPr>
        <p:spPr>
          <a:xfrm>
            <a:off x="640080" y="1737360"/>
            <a:ext cx="1828800" cy="256032"/>
          </a:xfrm>
          <a:prstGeom prst="rect">
            <a:avLst/>
          </a:prstGeom>
          <a:noFill/>
        </p:spPr>
        <p:txBody>
          <a:bodyPr wrap="square" anchor="t">
            <a:spAutoFit/>
          </a:bodyPr>
          <a:lstStyle/>
          <a:p>
            <a:pPr algn="l"/>
            <a:r>
              <a:rPr sz="1200" b="1">
                <a:solidFill>
                  <a:srgbClr val="375C7D"/>
                </a:solidFill>
                <a:latin typeface="Aptos"/>
              </a:rPr>
              <a:t>THE PROBLEM</a:t>
            </a:r>
          </a:p>
        </p:txBody>
      </p:sp>
      <p:sp>
        <p:nvSpPr>
          <p:cNvPr id="112" name="TextBox 111"/>
          <p:cNvSpPr txBox="1"/>
          <p:nvPr/>
        </p:nvSpPr>
        <p:spPr>
          <a:xfrm>
            <a:off x="685800" y="2057400"/>
            <a:ext cx="2331720" cy="1828800"/>
          </a:xfrm>
          <a:prstGeom prst="rect">
            <a:avLst/>
          </a:prstGeom>
          <a:noFill/>
        </p:spPr>
        <p:txBody>
          <a:bodyPr wrap="square">
            <a:spAutoFit/>
          </a:bodyPr>
          <a:lstStyle/>
          <a:p>
            <a:pPr>
              <a:spcAft>
                <a:spcPts val="500"/>
              </a:spcAft>
              <a:defRPr sz="1400">
                <a:solidFill>
                  <a:srgbClr val="282C30"/>
                </a:solidFill>
                <a:latin typeface="Cambria"/>
              </a:defRPr>
            </a:pPr>
            <a:r>
              <a:t>• Target: UP or DOWN movement on the next trading day.</a:t>
            </a:r>
          </a:p>
          <a:p>
            <a:pPr>
              <a:spcAft>
                <a:spcPts val="500"/>
              </a:spcAft>
              <a:defRPr sz="1400">
                <a:solidFill>
                  <a:srgbClr val="282C30"/>
                </a:solidFill>
                <a:latin typeface="Cambria"/>
              </a:defRPr>
            </a:pPr>
            <a:r>
              <a:t>• Eight NIFTY sectoral indices are studied.</a:t>
            </a:r>
          </a:p>
          <a:p>
            <a:pPr>
              <a:spcAft>
                <a:spcPts val="500"/>
              </a:spcAft>
              <a:defRPr sz="1400">
                <a:solidFill>
                  <a:srgbClr val="282C30"/>
                </a:solidFill>
                <a:latin typeface="Cambria"/>
              </a:defRPr>
            </a:pPr>
            <a:r>
              <a:t>• Daily market movements contain substantial noise.</a:t>
            </a:r>
          </a:p>
        </p:txBody>
      </p:sp>
      <p:sp>
        <p:nvSpPr>
          <p:cNvPr id="113" name="TextBox 112"/>
          <p:cNvSpPr txBox="1"/>
          <p:nvPr/>
        </p:nvSpPr>
        <p:spPr>
          <a:xfrm>
            <a:off x="3246120" y="1737360"/>
            <a:ext cx="1828800" cy="256032"/>
          </a:xfrm>
          <a:prstGeom prst="rect">
            <a:avLst/>
          </a:prstGeom>
          <a:noFill/>
        </p:spPr>
        <p:txBody>
          <a:bodyPr wrap="square" anchor="t">
            <a:spAutoFit/>
          </a:bodyPr>
          <a:lstStyle/>
          <a:p>
            <a:pPr algn="l"/>
            <a:r>
              <a:rPr sz="1200" b="1">
                <a:solidFill>
                  <a:srgbClr val="375C7D"/>
                </a:solidFill>
                <a:latin typeface="Aptos"/>
              </a:rPr>
              <a:t>WHAT MAY MATTER</a:t>
            </a:r>
          </a:p>
        </p:txBody>
      </p:sp>
      <p:sp>
        <p:nvSpPr>
          <p:cNvPr id="114" name="TextBox 113"/>
          <p:cNvSpPr txBox="1"/>
          <p:nvPr/>
        </p:nvSpPr>
        <p:spPr>
          <a:xfrm>
            <a:off x="3291840" y="2057400"/>
            <a:ext cx="2331720" cy="1828800"/>
          </a:xfrm>
          <a:prstGeom prst="rect">
            <a:avLst/>
          </a:prstGeom>
          <a:noFill/>
        </p:spPr>
        <p:txBody>
          <a:bodyPr wrap="square">
            <a:spAutoFit/>
          </a:bodyPr>
          <a:lstStyle/>
          <a:p>
            <a:pPr>
              <a:spcAft>
                <a:spcPts val="500"/>
              </a:spcAft>
              <a:defRPr sz="1400">
                <a:solidFill>
                  <a:srgbClr val="282C30"/>
                </a:solidFill>
                <a:latin typeface="Cambria"/>
              </a:defRPr>
            </a:pPr>
            <a:r>
              <a:t>• Recent sector prices and technical behaviour.</a:t>
            </a:r>
          </a:p>
          <a:p>
            <a:pPr>
              <a:spcAft>
                <a:spcPts val="500"/>
              </a:spcAft>
              <a:defRPr sz="1400">
                <a:solidFill>
                  <a:srgbClr val="282C30"/>
                </a:solidFill>
                <a:latin typeface="Cambria"/>
              </a:defRPr>
            </a:pPr>
            <a:r>
              <a:t>• Gold, crude oil, USD/INR and India VIX.</a:t>
            </a:r>
          </a:p>
          <a:p>
            <a:pPr>
              <a:spcAft>
                <a:spcPts val="500"/>
              </a:spcAft>
              <a:defRPr sz="1400">
                <a:solidFill>
                  <a:srgbClr val="282C30"/>
                </a:solidFill>
                <a:latin typeface="Cambria"/>
              </a:defRPr>
            </a:pPr>
            <a:r>
              <a:t>• Geopolitical activity measured using GDELT.</a:t>
            </a:r>
          </a:p>
        </p:txBody>
      </p:sp>
      <p:sp>
        <p:nvSpPr>
          <p:cNvPr id="115" name="TextBox 114"/>
          <p:cNvSpPr txBox="1"/>
          <p:nvPr/>
        </p:nvSpPr>
        <p:spPr>
          <a:xfrm>
            <a:off x="5897880" y="1737360"/>
            <a:ext cx="1828800" cy="256032"/>
          </a:xfrm>
          <a:prstGeom prst="rect">
            <a:avLst/>
          </a:prstGeom>
          <a:noFill/>
        </p:spPr>
        <p:txBody>
          <a:bodyPr wrap="square" anchor="t">
            <a:spAutoFit/>
          </a:bodyPr>
          <a:lstStyle/>
          <a:p>
            <a:pPr algn="l"/>
            <a:r>
              <a:rPr sz="1200" b="1">
                <a:solidFill>
                  <a:srgbClr val="375C7D"/>
                </a:solidFill>
                <a:latin typeface="Aptos"/>
              </a:rPr>
              <a:t>WHY A GRAPH</a:t>
            </a:r>
          </a:p>
        </p:txBody>
      </p:sp>
      <p:sp>
        <p:nvSpPr>
          <p:cNvPr id="116" name="TextBox 115"/>
          <p:cNvSpPr txBox="1"/>
          <p:nvPr/>
        </p:nvSpPr>
        <p:spPr>
          <a:xfrm>
            <a:off x="5943600" y="2057400"/>
            <a:ext cx="2240280" cy="1828800"/>
          </a:xfrm>
          <a:prstGeom prst="rect">
            <a:avLst/>
          </a:prstGeom>
          <a:noFill/>
        </p:spPr>
        <p:txBody>
          <a:bodyPr wrap="square">
            <a:spAutoFit/>
          </a:bodyPr>
          <a:lstStyle/>
          <a:p>
            <a:pPr>
              <a:spcAft>
                <a:spcPts val="500"/>
              </a:spcAft>
              <a:defRPr sz="1400">
                <a:solidFill>
                  <a:srgbClr val="282C30"/>
                </a:solidFill>
                <a:latin typeface="Cambria"/>
              </a:defRPr>
            </a:pPr>
            <a:r>
              <a:t>• Sectors are not independent.</a:t>
            </a:r>
          </a:p>
          <a:p>
            <a:pPr>
              <a:spcAft>
                <a:spcPts val="500"/>
              </a:spcAft>
              <a:defRPr sz="1400">
                <a:solidFill>
                  <a:srgbClr val="282C30"/>
                </a:solidFill>
                <a:latin typeface="Cambria"/>
              </a:defRPr>
            </a:pPr>
            <a:r>
              <a:t>• Macro and country conditions can affect several sectors.</a:t>
            </a:r>
          </a:p>
          <a:p>
            <a:pPr>
              <a:spcAft>
                <a:spcPts val="500"/>
              </a:spcAft>
              <a:defRPr sz="1400">
                <a:solidFill>
                  <a:srgbClr val="282C30"/>
                </a:solidFill>
                <a:latin typeface="Cambria"/>
              </a:defRPr>
            </a:pPr>
            <a:r>
              <a:t>• A graph makes these assumed relationships explicit.</a:t>
            </a:r>
          </a:p>
        </p:txBody>
      </p:sp>
      <p:sp>
        <p:nvSpPr>
          <p:cNvPr id="117" name="Rectangle 116"/>
          <p:cNvSpPr/>
          <p:nvPr/>
        </p:nvSpPr>
        <p:spPr>
          <a:xfrm>
            <a:off x="640080" y="4251960"/>
            <a:ext cx="7726679" cy="16459"/>
          </a:xfrm>
          <a:prstGeom prst="rect">
            <a:avLst/>
          </a:prstGeom>
          <a:solidFill>
            <a:srgbClr val="375C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p:cNvSpPr txBox="1"/>
          <p:nvPr/>
        </p:nvSpPr>
        <p:spPr>
          <a:xfrm>
            <a:off x="640080" y="4480560"/>
            <a:ext cx="7635240" cy="411480"/>
          </a:xfrm>
          <a:prstGeom prst="rect">
            <a:avLst/>
          </a:prstGeom>
          <a:noFill/>
        </p:spPr>
        <p:txBody>
          <a:bodyPr wrap="square" anchor="t">
            <a:spAutoFit/>
          </a:bodyPr>
          <a:lstStyle/>
          <a:p>
            <a:pPr algn="l"/>
            <a:r>
              <a:rPr sz="1600" b="1">
                <a:solidFill>
                  <a:srgbClr val="375C7D"/>
                </a:solidFill>
                <a:latin typeface="Cambria"/>
              </a:rPr>
              <a:t>Scope: next-day direction prediction, not exact price forecasting.</a:t>
            </a:r>
          </a:p>
        </p:txBody>
      </p:sp>
      <p:sp>
        <p:nvSpPr>
          <p:cNvPr id="119" name="TextBox 118"/>
          <p:cNvSpPr txBox="1"/>
          <p:nvPr/>
        </p:nvSpPr>
        <p:spPr>
          <a:xfrm>
            <a:off x="685800" y="5074920"/>
            <a:ext cx="7406640" cy="822960"/>
          </a:xfrm>
          <a:prstGeom prst="rect">
            <a:avLst/>
          </a:prstGeom>
          <a:noFill/>
        </p:spPr>
        <p:txBody>
          <a:bodyPr wrap="square">
            <a:spAutoFit/>
          </a:bodyPr>
          <a:lstStyle/>
          <a:p>
            <a:pPr>
              <a:spcAft>
                <a:spcPts val="500"/>
              </a:spcAft>
              <a:defRPr sz="1400">
                <a:solidFill>
                  <a:srgbClr val="282C30"/>
                </a:solidFill>
                <a:latin typeface="Cambria"/>
              </a:defRPr>
            </a:pPr>
            <a:r>
              <a:t>• The study compares classical tabular models with graph neural networks and tests the contribution of GDELT through an ablation.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TextBox 113"/>
          <p:cNvSpPr txBox="1"/>
          <p:nvPr/>
        </p:nvSpPr>
        <p:spPr>
          <a:xfrm>
            <a:off x="502920" y="256032"/>
            <a:ext cx="7680960" cy="411480"/>
          </a:xfrm>
          <a:prstGeom prst="rect">
            <a:avLst/>
          </a:prstGeom>
          <a:noFill/>
        </p:spPr>
        <p:txBody>
          <a:bodyPr wrap="square" anchor="t">
            <a:spAutoFit/>
          </a:bodyPr>
          <a:lstStyle/>
          <a:p>
            <a:pPr algn="l"/>
            <a:r>
              <a:rPr sz="2500" b="1">
                <a:solidFill>
                  <a:srgbClr val="22374C"/>
                </a:solidFill>
                <a:latin typeface="Cambria"/>
              </a:rPr>
              <a:t>Literature Survey</a:t>
            </a:r>
          </a:p>
        </p:txBody>
      </p:sp>
      <p:sp>
        <p:nvSpPr>
          <p:cNvPr id="115" name="Rectangle 114"/>
          <p:cNvSpPr/>
          <p:nvPr/>
        </p:nvSpPr>
        <p:spPr>
          <a:xfrm>
            <a:off x="502920" y="758952"/>
            <a:ext cx="8138160" cy="16459"/>
          </a:xfrm>
          <a:prstGeom prst="rect">
            <a:avLst/>
          </a:prstGeom>
          <a:solidFill>
            <a:srgbClr val="375C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TextBox 115"/>
          <p:cNvSpPr txBox="1"/>
          <p:nvPr/>
        </p:nvSpPr>
        <p:spPr>
          <a:xfrm>
            <a:off x="8339327" y="283464"/>
            <a:ext cx="320040" cy="228600"/>
          </a:xfrm>
          <a:prstGeom prst="rect">
            <a:avLst/>
          </a:prstGeom>
          <a:noFill/>
        </p:spPr>
        <p:txBody>
          <a:bodyPr wrap="square" anchor="t">
            <a:spAutoFit/>
          </a:bodyPr>
          <a:lstStyle/>
          <a:p>
            <a:pPr algn="r"/>
            <a:r>
              <a:rPr sz="1000" b="0">
                <a:solidFill>
                  <a:srgbClr val="5C6268"/>
                </a:solidFill>
                <a:latin typeface="Aptos"/>
              </a:rPr>
              <a:t>4</a:t>
            </a:r>
          </a:p>
        </p:txBody>
      </p:sp>
      <p:sp>
        <p:nvSpPr>
          <p:cNvPr id="117" name="TextBox 116"/>
          <p:cNvSpPr txBox="1"/>
          <p:nvPr/>
        </p:nvSpPr>
        <p:spPr>
          <a:xfrm>
            <a:off x="640080" y="1143000"/>
            <a:ext cx="2103120" cy="256032"/>
          </a:xfrm>
          <a:prstGeom prst="rect">
            <a:avLst/>
          </a:prstGeom>
          <a:noFill/>
        </p:spPr>
        <p:txBody>
          <a:bodyPr wrap="square" anchor="t">
            <a:spAutoFit/>
          </a:bodyPr>
          <a:lstStyle/>
          <a:p>
            <a:pPr algn="l"/>
            <a:r>
              <a:rPr sz="1200" b="1">
                <a:solidFill>
                  <a:srgbClr val="375C7D"/>
                </a:solidFill>
                <a:latin typeface="Aptos"/>
              </a:rPr>
              <a:t>1. Financial Prediction</a:t>
            </a:r>
          </a:p>
        </p:txBody>
      </p:sp>
      <p:sp>
        <p:nvSpPr>
          <p:cNvPr id="118" name="TextBox 117"/>
          <p:cNvSpPr txBox="1"/>
          <p:nvPr/>
        </p:nvSpPr>
        <p:spPr>
          <a:xfrm>
            <a:off x="640080" y="1572768"/>
            <a:ext cx="2240280" cy="1920240"/>
          </a:xfrm>
          <a:prstGeom prst="rect">
            <a:avLst/>
          </a:prstGeom>
          <a:noFill/>
        </p:spPr>
        <p:txBody>
          <a:bodyPr wrap="square" anchor="t">
            <a:spAutoFit/>
          </a:bodyPr>
          <a:lstStyle/>
          <a:p>
            <a:pPr algn="l"/>
            <a:r>
              <a:rPr sz="1400" b="0">
                <a:solidFill>
                  <a:srgbClr val="282C30"/>
                </a:solidFill>
                <a:latin typeface="Cambria"/>
              </a:rPr>
              <a:t>Fama (1970) provides the efficient-market foundation. Random Forest and XGBoost are used here as nonlinear tabular baselines for financial data.</a:t>
            </a:r>
          </a:p>
        </p:txBody>
      </p:sp>
      <p:sp>
        <p:nvSpPr>
          <p:cNvPr id="119" name="TextBox 118"/>
          <p:cNvSpPr txBox="1"/>
          <p:nvPr/>
        </p:nvSpPr>
        <p:spPr>
          <a:xfrm>
            <a:off x="3246120" y="1143000"/>
            <a:ext cx="2103120" cy="256032"/>
          </a:xfrm>
          <a:prstGeom prst="rect">
            <a:avLst/>
          </a:prstGeom>
          <a:noFill/>
        </p:spPr>
        <p:txBody>
          <a:bodyPr wrap="square" anchor="t">
            <a:spAutoFit/>
          </a:bodyPr>
          <a:lstStyle/>
          <a:p>
            <a:pPr algn="l"/>
            <a:r>
              <a:rPr sz="1200" b="1">
                <a:solidFill>
                  <a:srgbClr val="375C7D"/>
                </a:solidFill>
                <a:latin typeface="Aptos"/>
              </a:rPr>
              <a:t>2. Graph Learning</a:t>
            </a:r>
          </a:p>
        </p:txBody>
      </p:sp>
      <p:sp>
        <p:nvSpPr>
          <p:cNvPr id="120" name="TextBox 119"/>
          <p:cNvSpPr txBox="1"/>
          <p:nvPr/>
        </p:nvSpPr>
        <p:spPr>
          <a:xfrm>
            <a:off x="3246120" y="1572768"/>
            <a:ext cx="2240280" cy="1920240"/>
          </a:xfrm>
          <a:prstGeom prst="rect">
            <a:avLst/>
          </a:prstGeom>
          <a:noFill/>
        </p:spPr>
        <p:txBody>
          <a:bodyPr wrap="square" anchor="t">
            <a:spAutoFit/>
          </a:bodyPr>
          <a:lstStyle/>
          <a:p>
            <a:pPr algn="l"/>
            <a:r>
              <a:rPr sz="1400" b="0">
                <a:solidFill>
                  <a:srgbClr val="282C30"/>
                </a:solidFill>
                <a:latin typeface="Cambria"/>
              </a:rPr>
              <a:t>GCN, GraphSAGE and GAT learn from connected entities. Their common idea is to update a node using information from its neighbourhood.</a:t>
            </a:r>
          </a:p>
        </p:txBody>
      </p:sp>
      <p:sp>
        <p:nvSpPr>
          <p:cNvPr id="121" name="TextBox 120"/>
          <p:cNvSpPr txBox="1"/>
          <p:nvPr/>
        </p:nvSpPr>
        <p:spPr>
          <a:xfrm>
            <a:off x="5852160" y="1143000"/>
            <a:ext cx="2103120" cy="256032"/>
          </a:xfrm>
          <a:prstGeom prst="rect">
            <a:avLst/>
          </a:prstGeom>
          <a:noFill/>
        </p:spPr>
        <p:txBody>
          <a:bodyPr wrap="square" anchor="t">
            <a:spAutoFit/>
          </a:bodyPr>
          <a:lstStyle/>
          <a:p>
            <a:pPr algn="l"/>
            <a:r>
              <a:rPr sz="1200" b="1">
                <a:solidFill>
                  <a:srgbClr val="375C7D"/>
                </a:solidFill>
                <a:latin typeface="Aptos"/>
              </a:rPr>
              <a:t>3. Geopolitical Data</a:t>
            </a:r>
          </a:p>
        </p:txBody>
      </p:sp>
      <p:sp>
        <p:nvSpPr>
          <p:cNvPr id="122" name="TextBox 121"/>
          <p:cNvSpPr txBox="1"/>
          <p:nvPr/>
        </p:nvSpPr>
        <p:spPr>
          <a:xfrm>
            <a:off x="5852160" y="1572768"/>
            <a:ext cx="2240280" cy="1920240"/>
          </a:xfrm>
          <a:prstGeom prst="rect">
            <a:avLst/>
          </a:prstGeom>
          <a:noFill/>
        </p:spPr>
        <p:txBody>
          <a:bodyPr wrap="square" anchor="t">
            <a:spAutoFit/>
          </a:bodyPr>
          <a:lstStyle/>
          <a:p>
            <a:pPr algn="l"/>
            <a:r>
              <a:rPr sz="1400" b="0">
                <a:solidFill>
                  <a:srgbClr val="282C30"/>
                </a:solidFill>
                <a:latin typeface="Cambria"/>
              </a:rPr>
              <a:t>GDELT provides event, conflict and tone information at large scale. Its usefulness for short-horizon sector prediction is an empirical question.</a:t>
            </a:r>
          </a:p>
        </p:txBody>
      </p:sp>
      <p:sp>
        <p:nvSpPr>
          <p:cNvPr id="123" name="Rectangle 122"/>
          <p:cNvSpPr/>
          <p:nvPr/>
        </p:nvSpPr>
        <p:spPr>
          <a:xfrm>
            <a:off x="640080" y="3840480"/>
            <a:ext cx="7726679" cy="16459"/>
          </a:xfrm>
          <a:prstGeom prst="rect">
            <a:avLst/>
          </a:prstGeom>
          <a:solidFill>
            <a:srgbClr val="375C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p:cNvSpPr txBox="1"/>
          <p:nvPr/>
        </p:nvSpPr>
        <p:spPr>
          <a:xfrm>
            <a:off x="640080" y="4160520"/>
            <a:ext cx="2011680" cy="256032"/>
          </a:xfrm>
          <a:prstGeom prst="rect">
            <a:avLst/>
          </a:prstGeom>
          <a:noFill/>
        </p:spPr>
        <p:txBody>
          <a:bodyPr wrap="square" anchor="t">
            <a:spAutoFit/>
          </a:bodyPr>
          <a:lstStyle/>
          <a:p>
            <a:pPr algn="l"/>
            <a:r>
              <a:rPr sz="1200" b="1">
                <a:solidFill>
                  <a:srgbClr val="375C7D"/>
                </a:solidFill>
                <a:latin typeface="Aptos"/>
              </a:rPr>
              <a:t>RESEARCH GAP</a:t>
            </a:r>
          </a:p>
        </p:txBody>
      </p:sp>
      <p:sp>
        <p:nvSpPr>
          <p:cNvPr id="125" name="TextBox 124"/>
          <p:cNvSpPr txBox="1"/>
          <p:nvPr/>
        </p:nvSpPr>
        <p:spPr>
          <a:xfrm>
            <a:off x="640080" y="4526280"/>
            <a:ext cx="7406640" cy="1143000"/>
          </a:xfrm>
          <a:prstGeom prst="rect">
            <a:avLst/>
          </a:prstGeom>
          <a:noFill/>
        </p:spPr>
        <p:txBody>
          <a:bodyPr wrap="square" anchor="t">
            <a:spAutoFit/>
          </a:bodyPr>
          <a:lstStyle/>
          <a:p>
            <a:pPr algn="l"/>
            <a:r>
              <a:rPr sz="1600" b="0">
                <a:solidFill>
                  <a:srgbClr val="282C30"/>
                </a:solidFill>
                <a:latin typeface="Cambria"/>
              </a:rPr>
              <a:t>The study combines three elements in one controlled experiment: (1) Indian sector indices, (2) a domain-informed heterogeneous graph, and (3) a direct with-GDELT versus without-GDELT comparison under chronological evaluation.</a:t>
            </a:r>
          </a:p>
        </p:txBody>
      </p:sp>
      <p:sp>
        <p:nvSpPr>
          <p:cNvPr id="126" name="TextBox 125"/>
          <p:cNvSpPr txBox="1"/>
          <p:nvPr/>
        </p:nvSpPr>
        <p:spPr>
          <a:xfrm>
            <a:off x="640080" y="5897880"/>
            <a:ext cx="7498079" cy="320040"/>
          </a:xfrm>
          <a:prstGeom prst="rect">
            <a:avLst/>
          </a:prstGeom>
          <a:noFill/>
        </p:spPr>
        <p:txBody>
          <a:bodyPr wrap="square" anchor="t">
            <a:spAutoFit/>
          </a:bodyPr>
          <a:lstStyle/>
          <a:p>
            <a:pPr algn="l"/>
            <a:r>
              <a:rPr sz="1100" b="0">
                <a:solidFill>
                  <a:srgbClr val="5C6268"/>
                </a:solidFill>
                <a:latin typeface="Cambria"/>
              </a:rPr>
              <a:t>The gap is therefore experimental and methodological, rather than a claim that earlier models are inadequate.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TextBox 120"/>
          <p:cNvSpPr txBox="1"/>
          <p:nvPr/>
        </p:nvSpPr>
        <p:spPr>
          <a:xfrm>
            <a:off x="502920" y="256032"/>
            <a:ext cx="7680960" cy="411480"/>
          </a:xfrm>
          <a:prstGeom prst="rect">
            <a:avLst/>
          </a:prstGeom>
          <a:noFill/>
        </p:spPr>
        <p:txBody>
          <a:bodyPr wrap="square" anchor="t">
            <a:spAutoFit/>
          </a:bodyPr>
          <a:lstStyle/>
          <a:p>
            <a:pPr algn="l"/>
            <a:r>
              <a:rPr sz="2500" b="1">
                <a:solidFill>
                  <a:srgbClr val="22374C"/>
                </a:solidFill>
                <a:latin typeface="Cambria"/>
              </a:rPr>
              <a:t>Objectives</a:t>
            </a:r>
          </a:p>
        </p:txBody>
      </p:sp>
      <p:sp>
        <p:nvSpPr>
          <p:cNvPr id="122" name="Rectangle 121"/>
          <p:cNvSpPr/>
          <p:nvPr/>
        </p:nvSpPr>
        <p:spPr>
          <a:xfrm>
            <a:off x="502920" y="758952"/>
            <a:ext cx="8138160" cy="16459"/>
          </a:xfrm>
          <a:prstGeom prst="rect">
            <a:avLst/>
          </a:prstGeom>
          <a:solidFill>
            <a:srgbClr val="375C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TextBox 122"/>
          <p:cNvSpPr txBox="1"/>
          <p:nvPr/>
        </p:nvSpPr>
        <p:spPr>
          <a:xfrm>
            <a:off x="8339327" y="283464"/>
            <a:ext cx="320040" cy="228600"/>
          </a:xfrm>
          <a:prstGeom prst="rect">
            <a:avLst/>
          </a:prstGeom>
          <a:noFill/>
        </p:spPr>
        <p:txBody>
          <a:bodyPr wrap="square" anchor="t">
            <a:spAutoFit/>
          </a:bodyPr>
          <a:lstStyle/>
          <a:p>
            <a:pPr algn="r"/>
            <a:r>
              <a:rPr sz="1000" b="0">
                <a:solidFill>
                  <a:srgbClr val="5C6268"/>
                </a:solidFill>
                <a:latin typeface="Aptos"/>
              </a:rPr>
              <a:t>5</a:t>
            </a:r>
          </a:p>
        </p:txBody>
      </p:sp>
      <p:sp>
        <p:nvSpPr>
          <p:cNvPr id="124" name="TextBox 123"/>
          <p:cNvSpPr txBox="1"/>
          <p:nvPr/>
        </p:nvSpPr>
        <p:spPr>
          <a:xfrm>
            <a:off x="640080" y="1051560"/>
            <a:ext cx="7680960" cy="548640"/>
          </a:xfrm>
          <a:prstGeom prst="rect">
            <a:avLst/>
          </a:prstGeom>
          <a:noFill/>
        </p:spPr>
        <p:txBody>
          <a:bodyPr wrap="square" anchor="t">
            <a:spAutoFit/>
          </a:bodyPr>
          <a:lstStyle/>
          <a:p>
            <a:pPr algn="l"/>
            <a:r>
              <a:rPr sz="1800" b="1">
                <a:solidFill>
                  <a:srgbClr val="375C7D"/>
                </a:solidFill>
                <a:latin typeface="Cambria"/>
              </a:rPr>
              <a:t>Overall objective: evaluate whether geopolitical information and graph modelling improve next-day direction prediction of eight NIFTY sectors.</a:t>
            </a:r>
          </a:p>
        </p:txBody>
      </p:sp>
      <p:sp>
        <p:nvSpPr>
          <p:cNvPr id="125" name="TextBox 124"/>
          <p:cNvSpPr txBox="1"/>
          <p:nvPr/>
        </p:nvSpPr>
        <p:spPr>
          <a:xfrm>
            <a:off x="640080" y="1874519"/>
            <a:ext cx="1828800" cy="256032"/>
          </a:xfrm>
          <a:prstGeom prst="rect">
            <a:avLst/>
          </a:prstGeom>
          <a:noFill/>
        </p:spPr>
        <p:txBody>
          <a:bodyPr wrap="square" anchor="t">
            <a:spAutoFit/>
          </a:bodyPr>
          <a:lstStyle/>
          <a:p>
            <a:pPr algn="l"/>
            <a:r>
              <a:rPr sz="1200" b="1">
                <a:solidFill>
                  <a:srgbClr val="375C7D"/>
                </a:solidFill>
                <a:latin typeface="Aptos"/>
              </a:rPr>
              <a:t>RESEARCH QUESTIONS</a:t>
            </a:r>
          </a:p>
        </p:txBody>
      </p:sp>
      <p:sp>
        <p:nvSpPr>
          <p:cNvPr id="126" name="TextBox 125"/>
          <p:cNvSpPr txBox="1"/>
          <p:nvPr/>
        </p:nvSpPr>
        <p:spPr>
          <a:xfrm>
            <a:off x="640080" y="2240280"/>
            <a:ext cx="2286000" cy="320040"/>
          </a:xfrm>
          <a:prstGeom prst="rect">
            <a:avLst/>
          </a:prstGeom>
          <a:noFill/>
        </p:spPr>
        <p:txBody>
          <a:bodyPr wrap="square" anchor="t">
            <a:spAutoFit/>
          </a:bodyPr>
          <a:lstStyle/>
          <a:p>
            <a:pPr algn="l"/>
            <a:r>
              <a:rPr sz="1300" b="1">
                <a:solidFill>
                  <a:srgbClr val="22374C"/>
                </a:solidFill>
                <a:latin typeface="Aptos"/>
              </a:rPr>
              <a:t>RQ1 — GDELT</a:t>
            </a:r>
          </a:p>
        </p:txBody>
      </p:sp>
      <p:sp>
        <p:nvSpPr>
          <p:cNvPr id="127" name="TextBox 126"/>
          <p:cNvSpPr txBox="1"/>
          <p:nvPr/>
        </p:nvSpPr>
        <p:spPr>
          <a:xfrm>
            <a:off x="640080" y="2651760"/>
            <a:ext cx="2286000" cy="1508760"/>
          </a:xfrm>
          <a:prstGeom prst="rect">
            <a:avLst/>
          </a:prstGeom>
          <a:noFill/>
        </p:spPr>
        <p:txBody>
          <a:bodyPr wrap="square" anchor="t">
            <a:spAutoFit/>
          </a:bodyPr>
          <a:lstStyle/>
          <a:p>
            <a:pPr algn="l"/>
            <a:r>
              <a:rPr sz="1400" b="0">
                <a:solidFill>
                  <a:srgbClr val="282C30"/>
                </a:solidFill>
                <a:latin typeface="Cambria"/>
              </a:rPr>
              <a:t>Does adding GDELT-derived geopolitical information improve next-day sector-direction prediction?</a:t>
            </a:r>
          </a:p>
        </p:txBody>
      </p:sp>
      <p:sp>
        <p:nvSpPr>
          <p:cNvPr id="128" name="TextBox 127"/>
          <p:cNvSpPr txBox="1"/>
          <p:nvPr/>
        </p:nvSpPr>
        <p:spPr>
          <a:xfrm>
            <a:off x="3246120" y="2240280"/>
            <a:ext cx="2286000" cy="320040"/>
          </a:xfrm>
          <a:prstGeom prst="rect">
            <a:avLst/>
          </a:prstGeom>
          <a:noFill/>
        </p:spPr>
        <p:txBody>
          <a:bodyPr wrap="square" anchor="t">
            <a:spAutoFit/>
          </a:bodyPr>
          <a:lstStyle/>
          <a:p>
            <a:pPr algn="l"/>
            <a:r>
              <a:rPr sz="1300" b="1">
                <a:solidFill>
                  <a:srgbClr val="22374C"/>
                </a:solidFill>
                <a:latin typeface="Aptos"/>
              </a:rPr>
              <a:t>RQ2 — MODELS</a:t>
            </a:r>
          </a:p>
        </p:txBody>
      </p:sp>
      <p:sp>
        <p:nvSpPr>
          <p:cNvPr id="129" name="TextBox 128"/>
          <p:cNvSpPr txBox="1"/>
          <p:nvPr/>
        </p:nvSpPr>
        <p:spPr>
          <a:xfrm>
            <a:off x="3246120" y="2651760"/>
            <a:ext cx="2286000" cy="1508760"/>
          </a:xfrm>
          <a:prstGeom prst="rect">
            <a:avLst/>
          </a:prstGeom>
          <a:noFill/>
        </p:spPr>
        <p:txBody>
          <a:bodyPr wrap="square" anchor="t">
            <a:spAutoFit/>
          </a:bodyPr>
          <a:lstStyle/>
          <a:p>
            <a:pPr algn="l"/>
            <a:r>
              <a:rPr sz="1400" b="0">
                <a:solidFill>
                  <a:srgbClr val="282C30"/>
                </a:solidFill>
                <a:latin typeface="Cambria"/>
              </a:rPr>
              <a:t>Do the evaluated GNNs outperform the classical Random Forest and XGBoost baselines?</a:t>
            </a:r>
          </a:p>
        </p:txBody>
      </p:sp>
      <p:sp>
        <p:nvSpPr>
          <p:cNvPr id="130" name="TextBox 129"/>
          <p:cNvSpPr txBox="1"/>
          <p:nvPr/>
        </p:nvSpPr>
        <p:spPr>
          <a:xfrm>
            <a:off x="5852160" y="2240280"/>
            <a:ext cx="2286000" cy="320040"/>
          </a:xfrm>
          <a:prstGeom prst="rect">
            <a:avLst/>
          </a:prstGeom>
          <a:noFill/>
        </p:spPr>
        <p:txBody>
          <a:bodyPr wrap="square" anchor="t">
            <a:spAutoFit/>
          </a:bodyPr>
          <a:lstStyle/>
          <a:p>
            <a:pPr algn="l"/>
            <a:r>
              <a:rPr sz="1300" b="1">
                <a:solidFill>
                  <a:srgbClr val="22374C"/>
                </a:solidFill>
                <a:latin typeface="Aptos"/>
              </a:rPr>
              <a:t>RQ3 — DIAGNOSTICS</a:t>
            </a:r>
          </a:p>
        </p:txBody>
      </p:sp>
      <p:sp>
        <p:nvSpPr>
          <p:cNvPr id="131" name="TextBox 130"/>
          <p:cNvSpPr txBox="1"/>
          <p:nvPr/>
        </p:nvSpPr>
        <p:spPr>
          <a:xfrm>
            <a:off x="5852160" y="2651760"/>
            <a:ext cx="2286000" cy="1508760"/>
          </a:xfrm>
          <a:prstGeom prst="rect">
            <a:avLst/>
          </a:prstGeom>
          <a:noFill/>
        </p:spPr>
        <p:txBody>
          <a:bodyPr wrap="square" anchor="t">
            <a:spAutoFit/>
          </a:bodyPr>
          <a:lstStyle/>
          <a:p>
            <a:pPr algn="l"/>
            <a:r>
              <a:rPr sz="1400" b="0">
                <a:solidFill>
                  <a:srgbClr val="282C30"/>
                </a:solidFill>
                <a:latin typeface="Cambria"/>
              </a:rPr>
              <a:t>Do the graph models learn useful UP/DOWN discrimination, or do they collapse to a simple prediction pattern?</a:t>
            </a:r>
          </a:p>
        </p:txBody>
      </p:sp>
      <p:sp>
        <p:nvSpPr>
          <p:cNvPr id="132" name="Rectangle 131"/>
          <p:cNvSpPr/>
          <p:nvPr/>
        </p:nvSpPr>
        <p:spPr>
          <a:xfrm>
            <a:off x="640080" y="4480560"/>
            <a:ext cx="7726679" cy="16459"/>
          </a:xfrm>
          <a:prstGeom prst="rect">
            <a:avLst/>
          </a:prstGeom>
          <a:solidFill>
            <a:srgbClr val="375C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TextBox 132"/>
          <p:cNvSpPr txBox="1"/>
          <p:nvPr/>
        </p:nvSpPr>
        <p:spPr>
          <a:xfrm>
            <a:off x="640080" y="4800600"/>
            <a:ext cx="2560320" cy="256032"/>
          </a:xfrm>
          <a:prstGeom prst="rect">
            <a:avLst/>
          </a:prstGeom>
          <a:noFill/>
        </p:spPr>
        <p:txBody>
          <a:bodyPr wrap="square" anchor="t">
            <a:spAutoFit/>
          </a:bodyPr>
          <a:lstStyle/>
          <a:p>
            <a:pPr algn="l"/>
            <a:r>
              <a:rPr sz="1200" b="1">
                <a:solidFill>
                  <a:srgbClr val="375C7D"/>
                </a:solidFill>
                <a:latin typeface="Aptos"/>
              </a:rPr>
              <a:t>WHAT THE STUDY DELIVERS</a:t>
            </a:r>
          </a:p>
        </p:txBody>
      </p:sp>
      <p:sp>
        <p:nvSpPr>
          <p:cNvPr id="134" name="TextBox 133"/>
          <p:cNvSpPr txBox="1"/>
          <p:nvPr/>
        </p:nvSpPr>
        <p:spPr>
          <a:xfrm>
            <a:off x="685800" y="5166360"/>
            <a:ext cx="7315200" cy="1051560"/>
          </a:xfrm>
          <a:prstGeom prst="rect">
            <a:avLst/>
          </a:prstGeom>
          <a:noFill/>
        </p:spPr>
        <p:txBody>
          <a:bodyPr wrap="square">
            <a:spAutoFit/>
          </a:bodyPr>
          <a:lstStyle/>
          <a:p>
            <a:pPr>
              <a:spcAft>
                <a:spcPts val="500"/>
              </a:spcAft>
              <a:defRPr sz="1350">
                <a:solidFill>
                  <a:srgbClr val="282C30"/>
                </a:solidFill>
                <a:latin typeface="Cambria"/>
              </a:defRPr>
            </a:pPr>
            <a:r>
              <a:t>• A reproducible multi-source dataset and chronological evaluation pipeline.</a:t>
            </a:r>
          </a:p>
          <a:p>
            <a:pPr>
              <a:spcAft>
                <a:spcPts val="500"/>
              </a:spcAft>
              <a:defRPr sz="1350">
                <a:solidFill>
                  <a:srgbClr val="282C30"/>
                </a:solidFill>
                <a:latin typeface="Cambria"/>
              </a:defRPr>
            </a:pPr>
            <a:r>
              <a:t>• A fixed heterogeneous graph with explicit node and edge assumptions.</a:t>
            </a:r>
          </a:p>
          <a:p>
            <a:pPr>
              <a:spcAft>
                <a:spcPts val="500"/>
              </a:spcAft>
              <a:defRPr sz="1350">
                <a:solidFill>
                  <a:srgbClr val="282C30"/>
                </a:solidFill>
                <a:latin typeface="Cambria"/>
              </a:defRPr>
            </a:pPr>
            <a:r>
              <a:t>• A comparison of classical baselines, four GNN architectures and a GDELT ablation.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2D7228DB-5744-7C37-2AB4-DADA9DF9E421}"/>
              </a:ext>
            </a:extLst>
          </p:cNvPr>
          <p:cNvSpPr/>
          <p:nvPr/>
        </p:nvSpPr>
        <p:spPr>
          <a:xfrm>
            <a:off x="7178040" y="1874519"/>
            <a:ext cx="1097280" cy="409073"/>
          </a:xfrm>
          <a:prstGeom prst="roundRect">
            <a:avLst/>
          </a:prstGeom>
          <a:noFill/>
          <a:ln>
            <a:noFill/>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EA6F09E5-830A-EB19-34B4-4CB494897A33}"/>
              </a:ext>
            </a:extLst>
          </p:cNvPr>
          <p:cNvSpPr/>
          <p:nvPr/>
        </p:nvSpPr>
        <p:spPr>
          <a:xfrm>
            <a:off x="6015789" y="1874519"/>
            <a:ext cx="869643" cy="435928"/>
          </a:xfrm>
          <a:prstGeom prst="roundRect">
            <a:avLst/>
          </a:prstGeom>
          <a:noFill/>
          <a:ln>
            <a:noFill/>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5A3B08C4-73BA-0423-7AD5-3E609DF0835B}"/>
              </a:ext>
            </a:extLst>
          </p:cNvPr>
          <p:cNvSpPr/>
          <p:nvPr/>
        </p:nvSpPr>
        <p:spPr>
          <a:xfrm>
            <a:off x="4572000" y="1874519"/>
            <a:ext cx="1051560" cy="435928"/>
          </a:xfrm>
          <a:prstGeom prst="roundRect">
            <a:avLst/>
          </a:prstGeom>
          <a:noFill/>
          <a:ln>
            <a:noFill/>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a:p>
        </p:txBody>
      </p:sp>
      <p:sp>
        <p:nvSpPr>
          <p:cNvPr id="4" name="Rectangle: Rounded Corners 3">
            <a:extLst>
              <a:ext uri="{FF2B5EF4-FFF2-40B4-BE49-F238E27FC236}">
                <a16:creationId xmlns:a16="http://schemas.microsoft.com/office/drawing/2014/main" id="{CF7D66D4-E1D7-CF53-E521-756D00393D59}"/>
              </a:ext>
            </a:extLst>
          </p:cNvPr>
          <p:cNvSpPr/>
          <p:nvPr/>
        </p:nvSpPr>
        <p:spPr>
          <a:xfrm>
            <a:off x="3388093" y="1874519"/>
            <a:ext cx="918730" cy="438913"/>
          </a:xfrm>
          <a:prstGeom prst="roundRect">
            <a:avLst/>
          </a:prstGeom>
          <a:noFill/>
          <a:ln>
            <a:noFill/>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a:p>
        </p:txBody>
      </p:sp>
      <p:sp>
        <p:nvSpPr>
          <p:cNvPr id="3" name="Rectangle: Rounded Corners 2">
            <a:extLst>
              <a:ext uri="{FF2B5EF4-FFF2-40B4-BE49-F238E27FC236}">
                <a16:creationId xmlns:a16="http://schemas.microsoft.com/office/drawing/2014/main" id="{D8734F7A-8A10-1644-462F-858AC60AA316}"/>
              </a:ext>
            </a:extLst>
          </p:cNvPr>
          <p:cNvSpPr/>
          <p:nvPr/>
        </p:nvSpPr>
        <p:spPr>
          <a:xfrm>
            <a:off x="2098308" y="1874520"/>
            <a:ext cx="824164" cy="435928"/>
          </a:xfrm>
          <a:prstGeom prst="roundRect">
            <a:avLst/>
          </a:prstGeom>
          <a:noFill/>
          <a:ln>
            <a:noFill/>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dirty="0"/>
          </a:p>
        </p:txBody>
      </p:sp>
      <p:sp>
        <p:nvSpPr>
          <p:cNvPr id="128" name="TextBox 127"/>
          <p:cNvSpPr txBox="1"/>
          <p:nvPr/>
        </p:nvSpPr>
        <p:spPr>
          <a:xfrm>
            <a:off x="502920" y="256032"/>
            <a:ext cx="7680960" cy="411480"/>
          </a:xfrm>
          <a:prstGeom prst="rect">
            <a:avLst/>
          </a:prstGeom>
          <a:noFill/>
        </p:spPr>
        <p:txBody>
          <a:bodyPr wrap="square" anchor="t">
            <a:spAutoFit/>
          </a:bodyPr>
          <a:lstStyle/>
          <a:p>
            <a:pPr algn="l"/>
            <a:r>
              <a:rPr sz="2500" b="1">
                <a:solidFill>
                  <a:srgbClr val="22374C"/>
                </a:solidFill>
                <a:latin typeface="Cambria"/>
              </a:rPr>
              <a:t>Methodology</a:t>
            </a:r>
          </a:p>
        </p:txBody>
      </p:sp>
      <p:sp>
        <p:nvSpPr>
          <p:cNvPr id="129" name="Rectangle 128"/>
          <p:cNvSpPr/>
          <p:nvPr/>
        </p:nvSpPr>
        <p:spPr>
          <a:xfrm>
            <a:off x="502920" y="758952"/>
            <a:ext cx="8138160" cy="16459"/>
          </a:xfrm>
          <a:prstGeom prst="rect">
            <a:avLst/>
          </a:prstGeom>
          <a:solidFill>
            <a:srgbClr val="375C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129"/>
          <p:cNvSpPr txBox="1"/>
          <p:nvPr/>
        </p:nvSpPr>
        <p:spPr>
          <a:xfrm>
            <a:off x="8339327" y="283464"/>
            <a:ext cx="320040" cy="228600"/>
          </a:xfrm>
          <a:prstGeom prst="rect">
            <a:avLst/>
          </a:prstGeom>
          <a:noFill/>
        </p:spPr>
        <p:txBody>
          <a:bodyPr wrap="square" anchor="t">
            <a:spAutoFit/>
          </a:bodyPr>
          <a:lstStyle/>
          <a:p>
            <a:pPr algn="r"/>
            <a:r>
              <a:rPr sz="1000" b="0">
                <a:solidFill>
                  <a:srgbClr val="5C6268"/>
                </a:solidFill>
                <a:latin typeface="Aptos"/>
              </a:rPr>
              <a:t>6</a:t>
            </a:r>
          </a:p>
        </p:txBody>
      </p:sp>
      <p:sp>
        <p:nvSpPr>
          <p:cNvPr id="131" name="TextBox 130"/>
          <p:cNvSpPr txBox="1"/>
          <p:nvPr/>
        </p:nvSpPr>
        <p:spPr>
          <a:xfrm>
            <a:off x="640080" y="1024128"/>
            <a:ext cx="7589520" cy="411480"/>
          </a:xfrm>
          <a:prstGeom prst="rect">
            <a:avLst/>
          </a:prstGeom>
          <a:noFill/>
        </p:spPr>
        <p:txBody>
          <a:bodyPr wrap="square" anchor="t">
            <a:spAutoFit/>
          </a:bodyPr>
          <a:lstStyle/>
          <a:p>
            <a:pPr algn="l"/>
            <a:r>
              <a:rPr sz="1700" b="1">
                <a:solidFill>
                  <a:srgbClr val="375C7D"/>
                </a:solidFill>
                <a:latin typeface="Cambria"/>
              </a:rPr>
              <a:t>2,086 trading days  |  2018–2026  |  8 sector targets  |  114 raw columns</a:t>
            </a:r>
          </a:p>
        </p:txBody>
      </p:sp>
      <p:sp>
        <p:nvSpPr>
          <p:cNvPr id="132" name="Rectangle 131"/>
          <p:cNvSpPr/>
          <p:nvPr/>
        </p:nvSpPr>
        <p:spPr>
          <a:xfrm>
            <a:off x="685800" y="1524641"/>
            <a:ext cx="7726679" cy="36576"/>
          </a:xfrm>
          <a:prstGeom prst="rect">
            <a:avLst/>
          </a:prstGeom>
          <a:solidFill>
            <a:srgbClr val="EE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TextBox 133"/>
          <p:cNvSpPr txBox="1"/>
          <p:nvPr/>
        </p:nvSpPr>
        <p:spPr>
          <a:xfrm>
            <a:off x="1691639" y="1874519"/>
            <a:ext cx="228600" cy="274320"/>
          </a:xfrm>
          <a:prstGeom prst="rect">
            <a:avLst/>
          </a:prstGeom>
          <a:noFill/>
        </p:spPr>
        <p:txBody>
          <a:bodyPr wrap="square" anchor="t">
            <a:spAutoFit/>
          </a:bodyPr>
          <a:lstStyle/>
          <a:p>
            <a:pPr algn="ctr"/>
            <a:r>
              <a:rPr sz="1400" b="1">
                <a:solidFill>
                  <a:srgbClr val="5C6268"/>
                </a:solidFill>
                <a:latin typeface="Aptos"/>
              </a:rPr>
              <a:t>→</a:t>
            </a:r>
          </a:p>
        </p:txBody>
      </p:sp>
      <p:sp>
        <p:nvSpPr>
          <p:cNvPr id="135" name="TextBox 134"/>
          <p:cNvSpPr txBox="1"/>
          <p:nvPr/>
        </p:nvSpPr>
        <p:spPr>
          <a:xfrm>
            <a:off x="1947672" y="1874519"/>
            <a:ext cx="1097280" cy="320040"/>
          </a:xfrm>
          <a:prstGeom prst="rect">
            <a:avLst/>
          </a:prstGeom>
          <a:noFill/>
        </p:spPr>
        <p:txBody>
          <a:bodyPr wrap="square" anchor="t">
            <a:spAutoFit/>
          </a:bodyPr>
          <a:lstStyle/>
          <a:p>
            <a:pPr algn="ctr"/>
            <a:r>
              <a:rPr sz="1100" b="1" dirty="0">
                <a:solidFill>
                  <a:srgbClr val="22374C"/>
                </a:solidFill>
                <a:latin typeface="Aptos"/>
              </a:rPr>
              <a:t>FEATURES</a:t>
            </a:r>
          </a:p>
        </p:txBody>
      </p:sp>
      <p:sp>
        <p:nvSpPr>
          <p:cNvPr id="136" name="TextBox 135"/>
          <p:cNvSpPr txBox="1"/>
          <p:nvPr/>
        </p:nvSpPr>
        <p:spPr>
          <a:xfrm>
            <a:off x="2999232" y="1874519"/>
            <a:ext cx="228600" cy="274320"/>
          </a:xfrm>
          <a:prstGeom prst="rect">
            <a:avLst/>
          </a:prstGeom>
          <a:noFill/>
        </p:spPr>
        <p:txBody>
          <a:bodyPr wrap="square" anchor="t">
            <a:spAutoFit/>
          </a:bodyPr>
          <a:lstStyle/>
          <a:p>
            <a:pPr algn="ctr"/>
            <a:r>
              <a:rPr sz="1400" b="1">
                <a:solidFill>
                  <a:srgbClr val="5C6268"/>
                </a:solidFill>
                <a:latin typeface="Aptos"/>
              </a:rPr>
              <a:t>→</a:t>
            </a:r>
          </a:p>
        </p:txBody>
      </p:sp>
      <p:sp>
        <p:nvSpPr>
          <p:cNvPr id="137" name="TextBox 136"/>
          <p:cNvSpPr txBox="1"/>
          <p:nvPr/>
        </p:nvSpPr>
        <p:spPr>
          <a:xfrm>
            <a:off x="3314700" y="1963552"/>
            <a:ext cx="1097280" cy="320040"/>
          </a:xfrm>
          <a:prstGeom prst="rect">
            <a:avLst/>
          </a:prstGeom>
          <a:noFill/>
        </p:spPr>
        <p:txBody>
          <a:bodyPr wrap="square" anchor="t">
            <a:spAutoFit/>
          </a:bodyPr>
          <a:lstStyle/>
          <a:p>
            <a:pPr algn="ctr"/>
            <a:r>
              <a:rPr sz="1100" b="1">
                <a:solidFill>
                  <a:srgbClr val="22374C"/>
                </a:solidFill>
                <a:latin typeface="Aptos"/>
              </a:rPr>
              <a:t>TARGET</a:t>
            </a:r>
          </a:p>
        </p:txBody>
      </p:sp>
      <p:sp>
        <p:nvSpPr>
          <p:cNvPr id="138" name="TextBox 137"/>
          <p:cNvSpPr txBox="1"/>
          <p:nvPr/>
        </p:nvSpPr>
        <p:spPr>
          <a:xfrm>
            <a:off x="4306823" y="1874519"/>
            <a:ext cx="228600" cy="274320"/>
          </a:xfrm>
          <a:prstGeom prst="rect">
            <a:avLst/>
          </a:prstGeom>
          <a:noFill/>
        </p:spPr>
        <p:txBody>
          <a:bodyPr wrap="square" anchor="t">
            <a:spAutoFit/>
          </a:bodyPr>
          <a:lstStyle/>
          <a:p>
            <a:pPr algn="ctr"/>
            <a:r>
              <a:rPr sz="1400" b="1">
                <a:solidFill>
                  <a:srgbClr val="5C6268"/>
                </a:solidFill>
                <a:latin typeface="Aptos"/>
              </a:rPr>
              <a:t>→</a:t>
            </a:r>
          </a:p>
        </p:txBody>
      </p:sp>
      <p:sp>
        <p:nvSpPr>
          <p:cNvPr id="139" name="TextBox 138"/>
          <p:cNvSpPr txBox="1"/>
          <p:nvPr/>
        </p:nvSpPr>
        <p:spPr>
          <a:xfrm>
            <a:off x="4562856" y="1874519"/>
            <a:ext cx="1097280" cy="320040"/>
          </a:xfrm>
          <a:prstGeom prst="rect">
            <a:avLst/>
          </a:prstGeom>
          <a:noFill/>
        </p:spPr>
        <p:txBody>
          <a:bodyPr wrap="square" anchor="t">
            <a:spAutoFit/>
          </a:bodyPr>
          <a:lstStyle/>
          <a:p>
            <a:pPr algn="ctr"/>
            <a:r>
              <a:rPr sz="1100" b="1" dirty="0">
                <a:solidFill>
                  <a:srgbClr val="22374C"/>
                </a:solidFill>
                <a:latin typeface="Aptos"/>
              </a:rPr>
              <a:t>CHRONOLOGICAL SPLIT</a:t>
            </a:r>
          </a:p>
        </p:txBody>
      </p:sp>
      <p:sp>
        <p:nvSpPr>
          <p:cNvPr id="140" name="TextBox 139"/>
          <p:cNvSpPr txBox="1"/>
          <p:nvPr/>
        </p:nvSpPr>
        <p:spPr>
          <a:xfrm>
            <a:off x="5614416" y="1874519"/>
            <a:ext cx="228600" cy="274320"/>
          </a:xfrm>
          <a:prstGeom prst="rect">
            <a:avLst/>
          </a:prstGeom>
          <a:noFill/>
        </p:spPr>
        <p:txBody>
          <a:bodyPr wrap="square" anchor="t">
            <a:spAutoFit/>
          </a:bodyPr>
          <a:lstStyle/>
          <a:p>
            <a:pPr algn="ctr"/>
            <a:r>
              <a:rPr sz="1400" b="1">
                <a:solidFill>
                  <a:srgbClr val="5C6268"/>
                </a:solidFill>
                <a:latin typeface="Aptos"/>
              </a:rPr>
              <a:t>→</a:t>
            </a:r>
          </a:p>
        </p:txBody>
      </p:sp>
      <p:sp>
        <p:nvSpPr>
          <p:cNvPr id="141" name="TextBox 140"/>
          <p:cNvSpPr txBox="1"/>
          <p:nvPr/>
        </p:nvSpPr>
        <p:spPr>
          <a:xfrm>
            <a:off x="5870448" y="1874519"/>
            <a:ext cx="1097280" cy="320040"/>
          </a:xfrm>
          <a:prstGeom prst="rect">
            <a:avLst/>
          </a:prstGeom>
          <a:noFill/>
        </p:spPr>
        <p:txBody>
          <a:bodyPr wrap="square" anchor="t">
            <a:spAutoFit/>
          </a:bodyPr>
          <a:lstStyle/>
          <a:p>
            <a:pPr algn="ctr"/>
            <a:r>
              <a:rPr sz="1100" b="1">
                <a:solidFill>
                  <a:srgbClr val="22374C"/>
                </a:solidFill>
                <a:latin typeface="Aptos"/>
              </a:rPr>
              <a:t>MODELS</a:t>
            </a:r>
          </a:p>
        </p:txBody>
      </p:sp>
      <p:sp>
        <p:nvSpPr>
          <p:cNvPr id="142" name="TextBox 141"/>
          <p:cNvSpPr txBox="1"/>
          <p:nvPr/>
        </p:nvSpPr>
        <p:spPr>
          <a:xfrm>
            <a:off x="6922008" y="1874519"/>
            <a:ext cx="228600" cy="274320"/>
          </a:xfrm>
          <a:prstGeom prst="rect">
            <a:avLst/>
          </a:prstGeom>
          <a:noFill/>
        </p:spPr>
        <p:txBody>
          <a:bodyPr wrap="square" anchor="t">
            <a:spAutoFit/>
          </a:bodyPr>
          <a:lstStyle/>
          <a:p>
            <a:pPr algn="ctr"/>
            <a:r>
              <a:rPr sz="1400" b="1">
                <a:solidFill>
                  <a:srgbClr val="5C6268"/>
                </a:solidFill>
                <a:latin typeface="Aptos"/>
              </a:rPr>
              <a:t>→</a:t>
            </a:r>
          </a:p>
        </p:txBody>
      </p:sp>
      <p:sp>
        <p:nvSpPr>
          <p:cNvPr id="143" name="TextBox 142"/>
          <p:cNvSpPr txBox="1"/>
          <p:nvPr/>
        </p:nvSpPr>
        <p:spPr>
          <a:xfrm>
            <a:off x="7178040" y="1874519"/>
            <a:ext cx="1097280" cy="320040"/>
          </a:xfrm>
          <a:prstGeom prst="rect">
            <a:avLst/>
          </a:prstGeom>
          <a:noFill/>
        </p:spPr>
        <p:txBody>
          <a:bodyPr wrap="square" anchor="t">
            <a:spAutoFit/>
          </a:bodyPr>
          <a:lstStyle/>
          <a:p>
            <a:pPr algn="ctr"/>
            <a:r>
              <a:rPr sz="1100" b="1">
                <a:solidFill>
                  <a:srgbClr val="22374C"/>
                </a:solidFill>
                <a:latin typeface="Aptos"/>
              </a:rPr>
              <a:t>EVALUATION</a:t>
            </a:r>
          </a:p>
        </p:txBody>
      </p:sp>
      <p:sp>
        <p:nvSpPr>
          <p:cNvPr id="144" name="TextBox 143"/>
          <p:cNvSpPr txBox="1"/>
          <p:nvPr/>
        </p:nvSpPr>
        <p:spPr>
          <a:xfrm>
            <a:off x="640080" y="2514600"/>
            <a:ext cx="2286000" cy="256032"/>
          </a:xfrm>
          <a:prstGeom prst="rect">
            <a:avLst/>
          </a:prstGeom>
          <a:noFill/>
        </p:spPr>
        <p:txBody>
          <a:bodyPr wrap="square" anchor="t">
            <a:spAutoFit/>
          </a:bodyPr>
          <a:lstStyle/>
          <a:p>
            <a:pPr algn="l"/>
            <a:r>
              <a:rPr sz="1200" b="1">
                <a:solidFill>
                  <a:srgbClr val="375C7D"/>
                </a:solidFill>
                <a:latin typeface="Aptos"/>
              </a:rPr>
              <a:t>FEATURES</a:t>
            </a:r>
          </a:p>
        </p:txBody>
      </p:sp>
      <p:sp>
        <p:nvSpPr>
          <p:cNvPr id="145" name="TextBox 144"/>
          <p:cNvSpPr txBox="1"/>
          <p:nvPr/>
        </p:nvSpPr>
        <p:spPr>
          <a:xfrm>
            <a:off x="685800" y="2880360"/>
            <a:ext cx="2377440" cy="1508760"/>
          </a:xfrm>
          <a:prstGeom prst="rect">
            <a:avLst/>
          </a:prstGeom>
          <a:noFill/>
        </p:spPr>
        <p:txBody>
          <a:bodyPr wrap="square">
            <a:spAutoFit/>
          </a:bodyPr>
          <a:lstStyle/>
          <a:p>
            <a:pPr>
              <a:spcAft>
                <a:spcPts val="500"/>
              </a:spcAft>
              <a:defRPr sz="1300">
                <a:solidFill>
                  <a:srgbClr val="282C30"/>
                </a:solidFill>
                <a:latin typeface="Cambria"/>
              </a:defRPr>
            </a:pPr>
            <a:r>
              <a:rPr dirty="0"/>
              <a:t>• Returns and log returns</a:t>
            </a:r>
          </a:p>
          <a:p>
            <a:pPr>
              <a:spcAft>
                <a:spcPts val="500"/>
              </a:spcAft>
              <a:defRPr sz="1300">
                <a:solidFill>
                  <a:srgbClr val="282C30"/>
                </a:solidFill>
                <a:latin typeface="Cambria"/>
              </a:defRPr>
            </a:pPr>
            <a:r>
              <a:rPr dirty="0"/>
              <a:t>• Moving-average ratios</a:t>
            </a:r>
          </a:p>
          <a:p>
            <a:pPr>
              <a:spcAft>
                <a:spcPts val="500"/>
              </a:spcAft>
              <a:defRPr sz="1300">
                <a:solidFill>
                  <a:srgbClr val="282C30"/>
                </a:solidFill>
                <a:latin typeface="Cambria"/>
              </a:defRPr>
            </a:pPr>
            <a:r>
              <a:rPr dirty="0"/>
              <a:t>• Volatility, momentum and RSI</a:t>
            </a:r>
          </a:p>
          <a:p>
            <a:pPr>
              <a:spcAft>
                <a:spcPts val="500"/>
              </a:spcAft>
              <a:defRPr sz="1300">
                <a:solidFill>
                  <a:srgbClr val="282C30"/>
                </a:solidFill>
                <a:latin typeface="Cambria"/>
              </a:defRPr>
            </a:pPr>
            <a:r>
              <a:rPr dirty="0"/>
              <a:t>• Macro variables</a:t>
            </a:r>
          </a:p>
          <a:p>
            <a:pPr>
              <a:spcAft>
                <a:spcPts val="500"/>
              </a:spcAft>
              <a:defRPr sz="1300">
                <a:solidFill>
                  <a:srgbClr val="282C30"/>
                </a:solidFill>
                <a:latin typeface="Cambria"/>
              </a:defRPr>
            </a:pPr>
            <a:r>
              <a:rPr dirty="0"/>
              <a:t>• GDELT event / conflict / tone features</a:t>
            </a:r>
          </a:p>
        </p:txBody>
      </p:sp>
      <p:sp>
        <p:nvSpPr>
          <p:cNvPr id="146" name="TextBox 145"/>
          <p:cNvSpPr txBox="1"/>
          <p:nvPr/>
        </p:nvSpPr>
        <p:spPr>
          <a:xfrm>
            <a:off x="3246120" y="2514600"/>
            <a:ext cx="2286000" cy="256032"/>
          </a:xfrm>
          <a:prstGeom prst="rect">
            <a:avLst/>
          </a:prstGeom>
          <a:noFill/>
        </p:spPr>
        <p:txBody>
          <a:bodyPr wrap="square" anchor="t">
            <a:spAutoFit/>
          </a:bodyPr>
          <a:lstStyle/>
          <a:p>
            <a:pPr algn="l"/>
            <a:r>
              <a:rPr sz="1200" b="1">
                <a:solidFill>
                  <a:srgbClr val="375C7D"/>
                </a:solidFill>
                <a:latin typeface="Aptos"/>
              </a:rPr>
              <a:t>EXPERIMENTS</a:t>
            </a:r>
          </a:p>
        </p:txBody>
      </p:sp>
      <p:sp>
        <p:nvSpPr>
          <p:cNvPr id="147" name="TextBox 146"/>
          <p:cNvSpPr txBox="1"/>
          <p:nvPr/>
        </p:nvSpPr>
        <p:spPr>
          <a:xfrm>
            <a:off x="3291840" y="2880360"/>
            <a:ext cx="2331720" cy="1508760"/>
          </a:xfrm>
          <a:prstGeom prst="rect">
            <a:avLst/>
          </a:prstGeom>
          <a:noFill/>
        </p:spPr>
        <p:txBody>
          <a:bodyPr wrap="square">
            <a:spAutoFit/>
          </a:bodyPr>
          <a:lstStyle/>
          <a:p>
            <a:pPr>
              <a:spcAft>
                <a:spcPts val="500"/>
              </a:spcAft>
              <a:defRPr sz="1300">
                <a:solidFill>
                  <a:srgbClr val="282C30"/>
                </a:solidFill>
                <a:latin typeface="Cambria"/>
              </a:defRPr>
            </a:pPr>
            <a:r>
              <a:rPr dirty="0"/>
              <a:t>• E1: technical + GDELT</a:t>
            </a:r>
          </a:p>
          <a:p>
            <a:pPr>
              <a:spcAft>
                <a:spcPts val="500"/>
              </a:spcAft>
              <a:defRPr sz="1300">
                <a:solidFill>
                  <a:srgbClr val="282C30"/>
                </a:solidFill>
                <a:latin typeface="Cambria"/>
              </a:defRPr>
            </a:pPr>
            <a:r>
              <a:rPr dirty="0"/>
              <a:t>• E2: technical only</a:t>
            </a:r>
          </a:p>
          <a:p>
            <a:pPr>
              <a:spcAft>
                <a:spcPts val="500"/>
              </a:spcAft>
              <a:defRPr sz="1300">
                <a:solidFill>
                  <a:srgbClr val="282C30"/>
                </a:solidFill>
                <a:latin typeface="Cambria"/>
              </a:defRPr>
            </a:pPr>
            <a:r>
              <a:rPr dirty="0"/>
              <a:t>• Same chronological evaluation</a:t>
            </a:r>
          </a:p>
          <a:p>
            <a:pPr>
              <a:spcAft>
                <a:spcPts val="500"/>
              </a:spcAft>
              <a:defRPr sz="1300">
                <a:solidFill>
                  <a:srgbClr val="282C30"/>
                </a:solidFill>
                <a:latin typeface="Cambria"/>
              </a:defRPr>
            </a:pPr>
            <a:r>
              <a:rPr dirty="0"/>
              <a:t>• RF and </a:t>
            </a:r>
            <a:r>
              <a:rPr dirty="0" err="1"/>
              <a:t>XGBoost</a:t>
            </a:r>
            <a:r>
              <a:rPr dirty="0"/>
              <a:t> baselines</a:t>
            </a:r>
          </a:p>
        </p:txBody>
      </p:sp>
      <p:sp>
        <p:nvSpPr>
          <p:cNvPr id="148" name="TextBox 147"/>
          <p:cNvSpPr txBox="1"/>
          <p:nvPr/>
        </p:nvSpPr>
        <p:spPr>
          <a:xfrm>
            <a:off x="5806440" y="2514600"/>
            <a:ext cx="2286000" cy="256032"/>
          </a:xfrm>
          <a:prstGeom prst="rect">
            <a:avLst/>
          </a:prstGeom>
          <a:noFill/>
        </p:spPr>
        <p:txBody>
          <a:bodyPr wrap="square" anchor="t">
            <a:spAutoFit/>
          </a:bodyPr>
          <a:lstStyle/>
          <a:p>
            <a:pPr algn="l"/>
            <a:r>
              <a:rPr sz="1200" b="1">
                <a:solidFill>
                  <a:srgbClr val="375C7D"/>
                </a:solidFill>
                <a:latin typeface="Aptos"/>
              </a:rPr>
              <a:t>GRAPH MODELS</a:t>
            </a:r>
          </a:p>
        </p:txBody>
      </p:sp>
      <p:sp>
        <p:nvSpPr>
          <p:cNvPr id="149" name="TextBox 148"/>
          <p:cNvSpPr txBox="1"/>
          <p:nvPr/>
        </p:nvSpPr>
        <p:spPr>
          <a:xfrm>
            <a:off x="5852160" y="2880360"/>
            <a:ext cx="2240280" cy="1508760"/>
          </a:xfrm>
          <a:prstGeom prst="rect">
            <a:avLst/>
          </a:prstGeom>
          <a:noFill/>
        </p:spPr>
        <p:txBody>
          <a:bodyPr wrap="square">
            <a:spAutoFit/>
          </a:bodyPr>
          <a:lstStyle/>
          <a:p>
            <a:pPr>
              <a:spcAft>
                <a:spcPts val="500"/>
              </a:spcAft>
              <a:defRPr sz="1300">
                <a:solidFill>
                  <a:srgbClr val="282C30"/>
                </a:solidFill>
                <a:latin typeface="Cambria"/>
              </a:defRPr>
            </a:pPr>
            <a:r>
              <a:t>• 21 nodes, 56 relationships</a:t>
            </a:r>
          </a:p>
          <a:p>
            <a:pPr>
              <a:spcAft>
                <a:spcPts val="500"/>
              </a:spcAft>
              <a:defRPr sz="1300">
                <a:solidFill>
                  <a:srgbClr val="282C30"/>
                </a:solidFill>
                <a:latin typeface="Cambria"/>
              </a:defRPr>
            </a:pPr>
            <a:r>
              <a:t>• Sector, macro, country, global</a:t>
            </a:r>
          </a:p>
          <a:p>
            <a:pPr>
              <a:spcAft>
                <a:spcPts val="500"/>
              </a:spcAft>
              <a:defRPr sz="1300">
                <a:solidFill>
                  <a:srgbClr val="282C30"/>
                </a:solidFill>
                <a:latin typeface="Cambria"/>
              </a:defRPr>
            </a:pPr>
            <a:r>
              <a:t>• GCN, GraphSAGE, GAT</a:t>
            </a:r>
          </a:p>
          <a:p>
            <a:pPr>
              <a:spcAft>
                <a:spcPts val="500"/>
              </a:spcAft>
              <a:defRPr sz="1300">
                <a:solidFill>
                  <a:srgbClr val="282C30"/>
                </a:solidFill>
                <a:latin typeface="Cambria"/>
              </a:defRPr>
            </a:pPr>
            <a:r>
              <a:t>• HGT-style</a:t>
            </a:r>
          </a:p>
        </p:txBody>
      </p:sp>
      <p:sp>
        <p:nvSpPr>
          <p:cNvPr id="150" name="Rectangle 149"/>
          <p:cNvSpPr/>
          <p:nvPr/>
        </p:nvSpPr>
        <p:spPr>
          <a:xfrm>
            <a:off x="640080" y="4892040"/>
            <a:ext cx="7726679" cy="16459"/>
          </a:xfrm>
          <a:prstGeom prst="rect">
            <a:avLst/>
          </a:prstGeom>
          <a:solidFill>
            <a:srgbClr val="375C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TextBox 150"/>
          <p:cNvSpPr txBox="1"/>
          <p:nvPr/>
        </p:nvSpPr>
        <p:spPr>
          <a:xfrm>
            <a:off x="640080" y="5166360"/>
            <a:ext cx="7498079" cy="640080"/>
          </a:xfrm>
          <a:prstGeom prst="rect">
            <a:avLst/>
          </a:prstGeom>
          <a:noFill/>
        </p:spPr>
        <p:txBody>
          <a:bodyPr wrap="square" anchor="t">
            <a:spAutoFit/>
          </a:bodyPr>
          <a:lstStyle/>
          <a:p>
            <a:pPr algn="l"/>
            <a:r>
              <a:rPr sz="1500" b="0">
                <a:solidFill>
                  <a:srgbClr val="282C30"/>
                </a:solidFill>
                <a:latin typeface="Cambria"/>
              </a:rPr>
              <a:t>Only the eight sector nodes are prediction targets. Macro, country and global nodes participate in message passing and influence sector representations.</a:t>
            </a:r>
          </a:p>
        </p:txBody>
      </p:sp>
      <p:sp>
        <p:nvSpPr>
          <p:cNvPr id="2" name="Rectangle: Rounded Corners 1">
            <a:extLst>
              <a:ext uri="{FF2B5EF4-FFF2-40B4-BE49-F238E27FC236}">
                <a16:creationId xmlns:a16="http://schemas.microsoft.com/office/drawing/2014/main" id="{0214AF12-3ABE-F258-7B72-69B1607F5E63}"/>
              </a:ext>
            </a:extLst>
          </p:cNvPr>
          <p:cNvSpPr/>
          <p:nvPr/>
        </p:nvSpPr>
        <p:spPr>
          <a:xfrm>
            <a:off x="847023" y="1874519"/>
            <a:ext cx="757748" cy="435928"/>
          </a:xfrm>
          <a:prstGeom prst="roundRect">
            <a:avLst/>
          </a:prstGeom>
          <a:noFill/>
          <a:ln>
            <a:noFill/>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dirty="0"/>
          </a:p>
        </p:txBody>
      </p:sp>
      <p:sp>
        <p:nvSpPr>
          <p:cNvPr id="133" name="TextBox 132"/>
          <p:cNvSpPr txBox="1"/>
          <p:nvPr/>
        </p:nvSpPr>
        <p:spPr>
          <a:xfrm>
            <a:off x="640080" y="1874519"/>
            <a:ext cx="1097280" cy="261610"/>
          </a:xfrm>
          <a:prstGeom prst="rect">
            <a:avLst/>
          </a:prstGeom>
          <a:noFill/>
        </p:spPr>
        <p:txBody>
          <a:bodyPr wrap="square" anchor="t">
            <a:spAutoFit/>
          </a:bodyPr>
          <a:lstStyle/>
          <a:p>
            <a:pPr algn="ctr"/>
            <a:r>
              <a:rPr sz="1100" b="1" dirty="0">
                <a:solidFill>
                  <a:schemeClr val="tx1"/>
                </a:solidFill>
                <a:latin typeface="Aptos"/>
              </a:rPr>
              <a:t>DATA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7680960" cy="411480"/>
          </a:xfrm>
          <a:prstGeom prst="rect">
            <a:avLst/>
          </a:prstGeom>
          <a:noFill/>
        </p:spPr>
        <p:txBody>
          <a:bodyPr wrap="square" anchor="t">
            <a:spAutoFit/>
          </a:bodyPr>
          <a:lstStyle/>
          <a:p>
            <a:pPr algn="l"/>
            <a:r>
              <a:rPr sz="2500" b="1">
                <a:solidFill>
                  <a:srgbClr val="22374C"/>
                </a:solidFill>
                <a:latin typeface="Cambria"/>
              </a:rPr>
              <a:t>Graph Construction</a:t>
            </a:r>
          </a:p>
        </p:txBody>
      </p:sp>
      <p:sp>
        <p:nvSpPr>
          <p:cNvPr id="3" name="Rectangle 2"/>
          <p:cNvSpPr/>
          <p:nvPr/>
        </p:nvSpPr>
        <p:spPr>
          <a:xfrm>
            <a:off x="502920" y="758952"/>
            <a:ext cx="8138160" cy="16459"/>
          </a:xfrm>
          <a:prstGeom prst="rect">
            <a:avLst/>
          </a:prstGeom>
          <a:solidFill>
            <a:srgbClr val="375C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339327" y="283464"/>
            <a:ext cx="320040" cy="228600"/>
          </a:xfrm>
          <a:prstGeom prst="rect">
            <a:avLst/>
          </a:prstGeom>
          <a:noFill/>
        </p:spPr>
        <p:txBody>
          <a:bodyPr wrap="square" anchor="t">
            <a:spAutoFit/>
          </a:bodyPr>
          <a:lstStyle/>
          <a:p>
            <a:pPr algn="r"/>
            <a:r>
              <a:rPr sz="1000" b="0">
                <a:solidFill>
                  <a:srgbClr val="5C6268"/>
                </a:solidFill>
                <a:latin typeface="Aptos"/>
              </a:rPr>
              <a:t>7</a:t>
            </a:r>
          </a:p>
        </p:txBody>
      </p:sp>
      <p:sp>
        <p:nvSpPr>
          <p:cNvPr id="5" name="TextBox 4"/>
          <p:cNvSpPr txBox="1"/>
          <p:nvPr/>
        </p:nvSpPr>
        <p:spPr>
          <a:xfrm>
            <a:off x="640080" y="932688"/>
            <a:ext cx="7680960" cy="365760"/>
          </a:xfrm>
          <a:prstGeom prst="rect">
            <a:avLst/>
          </a:prstGeom>
          <a:noFill/>
        </p:spPr>
        <p:txBody>
          <a:bodyPr wrap="square" anchor="t">
            <a:spAutoFit/>
          </a:bodyPr>
          <a:lstStyle/>
          <a:p>
            <a:pPr algn="l"/>
            <a:r>
              <a:rPr sz="1500" b="0">
                <a:solidFill>
                  <a:srgbClr val="282C30"/>
                </a:solidFill>
                <a:latin typeface="Cambria"/>
              </a:rPr>
              <a:t>A fixed, domain-informed heterogeneous graph is built once and reused across trading days; node features change with time, but the topology does not.</a:t>
            </a:r>
          </a:p>
        </p:txBody>
      </p:sp>
      <p:pic>
        <p:nvPicPr>
          <p:cNvPr id="6" name="Picture 5" descr="image.jpg"/>
          <p:cNvPicPr>
            <a:picLocks noChangeAspect="1"/>
          </p:cNvPicPr>
          <p:nvPr/>
        </p:nvPicPr>
        <p:blipFill>
          <a:blip r:embed="rId3"/>
          <a:stretch>
            <a:fillRect/>
          </a:stretch>
        </p:blipFill>
        <p:spPr>
          <a:xfrm>
            <a:off x="502920" y="1783080"/>
            <a:ext cx="5074920" cy="3154680"/>
          </a:xfrm>
          <a:prstGeom prst="rect">
            <a:avLst/>
          </a:prstGeom>
        </p:spPr>
      </p:pic>
      <p:sp>
        <p:nvSpPr>
          <p:cNvPr id="7" name="TextBox 6"/>
          <p:cNvSpPr txBox="1"/>
          <p:nvPr/>
        </p:nvSpPr>
        <p:spPr>
          <a:xfrm>
            <a:off x="5806440" y="1417320"/>
            <a:ext cx="2377440" cy="256032"/>
          </a:xfrm>
          <a:prstGeom prst="rect">
            <a:avLst/>
          </a:prstGeom>
          <a:noFill/>
        </p:spPr>
        <p:txBody>
          <a:bodyPr wrap="square" anchor="t">
            <a:spAutoFit/>
          </a:bodyPr>
          <a:lstStyle/>
          <a:p>
            <a:pPr algn="l"/>
            <a:r>
              <a:rPr sz="1200" b="1">
                <a:solidFill>
                  <a:srgbClr val="375C7D"/>
                </a:solidFill>
                <a:latin typeface="Aptos"/>
              </a:rPr>
              <a:t>NODE TYPES</a:t>
            </a:r>
          </a:p>
        </p:txBody>
      </p:sp>
      <p:sp>
        <p:nvSpPr>
          <p:cNvPr id="8" name="TextBox 7"/>
          <p:cNvSpPr txBox="1"/>
          <p:nvPr/>
        </p:nvSpPr>
        <p:spPr>
          <a:xfrm>
            <a:off x="5852160" y="1783080"/>
            <a:ext cx="2286000" cy="1417320"/>
          </a:xfrm>
          <a:prstGeom prst="rect">
            <a:avLst/>
          </a:prstGeom>
          <a:noFill/>
        </p:spPr>
        <p:txBody>
          <a:bodyPr wrap="square">
            <a:spAutoFit/>
          </a:bodyPr>
          <a:lstStyle/>
          <a:p>
            <a:pPr>
              <a:spcAft>
                <a:spcPts val="500"/>
              </a:spcAft>
              <a:defRPr sz="1250">
                <a:solidFill>
                  <a:srgbClr val="282C30"/>
                </a:solidFill>
                <a:latin typeface="Cambria"/>
              </a:defRPr>
            </a:pPr>
            <a:r>
              <a:t>• 9 index nodes: NIFTY sectors + NIFTY 50</a:t>
            </a:r>
          </a:p>
          <a:p>
            <a:pPr>
              <a:spcAft>
                <a:spcPts val="500"/>
              </a:spcAft>
              <a:defRPr sz="1250">
                <a:solidFill>
                  <a:srgbClr val="282C30"/>
                </a:solidFill>
                <a:latin typeface="Cambria"/>
              </a:defRPr>
            </a:pPr>
            <a:r>
              <a:t>• 4 macro nodes: gold, oil, USD/INR, VIX</a:t>
            </a:r>
          </a:p>
          <a:p>
            <a:pPr>
              <a:spcAft>
                <a:spcPts val="500"/>
              </a:spcAft>
              <a:defRPr sz="1250">
                <a:solidFill>
                  <a:srgbClr val="282C30"/>
                </a:solidFill>
                <a:latin typeface="Cambria"/>
              </a:defRPr>
            </a:pPr>
            <a:r>
              <a:t>• 7 country nodes</a:t>
            </a:r>
          </a:p>
          <a:p>
            <a:pPr>
              <a:spcAft>
                <a:spcPts val="500"/>
              </a:spcAft>
              <a:defRPr sz="1250">
                <a:solidFill>
                  <a:srgbClr val="282C30"/>
                </a:solidFill>
                <a:latin typeface="Cambria"/>
              </a:defRPr>
            </a:pPr>
            <a:r>
              <a:t>• 1 global node</a:t>
            </a:r>
          </a:p>
        </p:txBody>
      </p:sp>
      <p:sp>
        <p:nvSpPr>
          <p:cNvPr id="9" name="TextBox 8"/>
          <p:cNvSpPr txBox="1"/>
          <p:nvPr/>
        </p:nvSpPr>
        <p:spPr>
          <a:xfrm>
            <a:off x="5806440" y="3246120"/>
            <a:ext cx="2377440" cy="256032"/>
          </a:xfrm>
          <a:prstGeom prst="rect">
            <a:avLst/>
          </a:prstGeom>
          <a:noFill/>
        </p:spPr>
        <p:txBody>
          <a:bodyPr wrap="square" anchor="t">
            <a:spAutoFit/>
          </a:bodyPr>
          <a:lstStyle/>
          <a:p>
            <a:pPr algn="l"/>
            <a:r>
              <a:rPr sz="1200" b="1">
                <a:solidFill>
                  <a:srgbClr val="375C7D"/>
                </a:solidFill>
                <a:latin typeface="Aptos"/>
              </a:rPr>
              <a:t>EDGE GROUPS</a:t>
            </a:r>
          </a:p>
        </p:txBody>
      </p:sp>
      <p:sp>
        <p:nvSpPr>
          <p:cNvPr id="10" name="TextBox 9"/>
          <p:cNvSpPr txBox="1"/>
          <p:nvPr/>
        </p:nvSpPr>
        <p:spPr>
          <a:xfrm>
            <a:off x="5852160" y="3611880"/>
            <a:ext cx="2286000" cy="1508760"/>
          </a:xfrm>
          <a:prstGeom prst="rect">
            <a:avLst/>
          </a:prstGeom>
          <a:noFill/>
        </p:spPr>
        <p:txBody>
          <a:bodyPr wrap="square">
            <a:spAutoFit/>
          </a:bodyPr>
          <a:lstStyle/>
          <a:p>
            <a:pPr>
              <a:spcAft>
                <a:spcPts val="500"/>
              </a:spcAft>
              <a:defRPr sz="1250">
                <a:solidFill>
                  <a:srgbClr val="282C30"/>
                </a:solidFill>
                <a:latin typeface="Cambria"/>
              </a:defRPr>
            </a:pPr>
            <a:r>
              <a:t>• Sector–sector: 5</a:t>
            </a:r>
          </a:p>
          <a:p>
            <a:pPr>
              <a:spcAft>
                <a:spcPts val="500"/>
              </a:spcAft>
              <a:defRPr sz="1250">
                <a:solidFill>
                  <a:srgbClr val="282C30"/>
                </a:solidFill>
                <a:latin typeface="Cambria"/>
              </a:defRPr>
            </a:pPr>
            <a:r>
              <a:t>• Macro–sector: 12</a:t>
            </a:r>
          </a:p>
          <a:p>
            <a:pPr>
              <a:spcAft>
                <a:spcPts val="500"/>
              </a:spcAft>
              <a:defRPr sz="1250">
                <a:solidFill>
                  <a:srgbClr val="282C30"/>
                </a:solidFill>
                <a:latin typeface="Cambria"/>
              </a:defRPr>
            </a:pPr>
            <a:r>
              <a:t>• Country–sector: 12</a:t>
            </a:r>
          </a:p>
          <a:p>
            <a:pPr>
              <a:spcAft>
                <a:spcPts val="500"/>
              </a:spcAft>
              <a:defRPr sz="1250">
                <a:solidFill>
                  <a:srgbClr val="282C30"/>
                </a:solidFill>
                <a:latin typeface="Cambria"/>
              </a:defRPr>
            </a:pPr>
            <a:r>
              <a:t>• Country–country: 5</a:t>
            </a:r>
          </a:p>
          <a:p>
            <a:pPr>
              <a:spcAft>
                <a:spcPts val="500"/>
              </a:spcAft>
              <a:defRPr sz="1250">
                <a:solidFill>
                  <a:srgbClr val="282C30"/>
                </a:solidFill>
                <a:latin typeface="Cambria"/>
              </a:defRPr>
            </a:pPr>
            <a:r>
              <a:t>• Global–macro: 4</a:t>
            </a:r>
          </a:p>
          <a:p>
            <a:pPr>
              <a:spcAft>
                <a:spcPts val="500"/>
              </a:spcAft>
              <a:defRPr sz="1250">
                <a:solidFill>
                  <a:srgbClr val="282C30"/>
                </a:solidFill>
                <a:latin typeface="Cambria"/>
              </a:defRPr>
            </a:pPr>
            <a:r>
              <a:t>• Global–country: 18</a:t>
            </a:r>
          </a:p>
        </p:txBody>
      </p:sp>
      <p:sp>
        <p:nvSpPr>
          <p:cNvPr id="11" name="Rectangle 10"/>
          <p:cNvSpPr/>
          <p:nvPr/>
        </p:nvSpPr>
        <p:spPr>
          <a:xfrm>
            <a:off x="685800" y="5178247"/>
            <a:ext cx="7726679" cy="16459"/>
          </a:xfrm>
          <a:prstGeom prst="rect">
            <a:avLst/>
          </a:prstGeom>
          <a:solidFill>
            <a:srgbClr val="375C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5321808"/>
            <a:ext cx="7635240" cy="320040"/>
          </a:xfrm>
          <a:prstGeom prst="rect">
            <a:avLst/>
          </a:prstGeom>
          <a:noFill/>
        </p:spPr>
        <p:txBody>
          <a:bodyPr wrap="square" anchor="t">
            <a:spAutoFit/>
          </a:bodyPr>
          <a:lstStyle/>
          <a:p>
            <a:pPr algn="l"/>
            <a:r>
              <a:rPr sz="1500" b="1">
                <a:solidFill>
                  <a:srgbClr val="375C7D"/>
                </a:solidFill>
                <a:latin typeface="Cambria"/>
              </a:rPr>
              <a:t>56 unique undirected relationships → symmetric adjacency matrix → reused for every day.</a:t>
            </a:r>
          </a:p>
        </p:txBody>
      </p:sp>
      <p:sp>
        <p:nvSpPr>
          <p:cNvPr id="13" name="TextBox 12"/>
          <p:cNvSpPr txBox="1"/>
          <p:nvPr/>
        </p:nvSpPr>
        <p:spPr>
          <a:xfrm>
            <a:off x="685800" y="5806440"/>
            <a:ext cx="7315200" cy="594360"/>
          </a:xfrm>
          <a:prstGeom prst="rect">
            <a:avLst/>
          </a:prstGeom>
          <a:noFill/>
        </p:spPr>
        <p:txBody>
          <a:bodyPr wrap="square">
            <a:spAutoFit/>
          </a:bodyPr>
          <a:lstStyle/>
          <a:p>
            <a:pPr>
              <a:spcAft>
                <a:spcPts val="500"/>
              </a:spcAft>
              <a:defRPr sz="1150">
                <a:solidFill>
                  <a:srgbClr val="282C30"/>
                </a:solidFill>
                <a:latin typeface="Cambria"/>
              </a:defRPr>
            </a:pPr>
            <a:r>
              <a:t>• Edges encode modelling assumptions about related entities; they should not be interpreted as causal effects.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7680960" cy="411480"/>
          </a:xfrm>
          <a:prstGeom prst="rect">
            <a:avLst/>
          </a:prstGeom>
          <a:noFill/>
        </p:spPr>
        <p:txBody>
          <a:bodyPr wrap="square" anchor="t">
            <a:spAutoFit/>
          </a:bodyPr>
          <a:lstStyle/>
          <a:p>
            <a:pPr algn="l"/>
            <a:r>
              <a:rPr sz="2500" b="1">
                <a:solidFill>
                  <a:srgbClr val="22374C"/>
                </a:solidFill>
                <a:latin typeface="Cambria"/>
              </a:rPr>
              <a:t>GNN Message Passing</a:t>
            </a:r>
          </a:p>
        </p:txBody>
      </p:sp>
      <p:sp>
        <p:nvSpPr>
          <p:cNvPr id="3" name="Rectangle 2"/>
          <p:cNvSpPr/>
          <p:nvPr/>
        </p:nvSpPr>
        <p:spPr>
          <a:xfrm>
            <a:off x="502920" y="758952"/>
            <a:ext cx="8138160" cy="16459"/>
          </a:xfrm>
          <a:prstGeom prst="rect">
            <a:avLst/>
          </a:prstGeom>
          <a:solidFill>
            <a:srgbClr val="375C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339327" y="283464"/>
            <a:ext cx="320040" cy="228600"/>
          </a:xfrm>
          <a:prstGeom prst="rect">
            <a:avLst/>
          </a:prstGeom>
          <a:noFill/>
        </p:spPr>
        <p:txBody>
          <a:bodyPr wrap="square" anchor="t">
            <a:spAutoFit/>
          </a:bodyPr>
          <a:lstStyle/>
          <a:p>
            <a:pPr algn="r"/>
            <a:r>
              <a:rPr sz="1000" b="0">
                <a:solidFill>
                  <a:srgbClr val="5C6268"/>
                </a:solidFill>
                <a:latin typeface="Aptos"/>
              </a:rPr>
              <a:t>8</a:t>
            </a:r>
          </a:p>
        </p:txBody>
      </p:sp>
      <p:sp>
        <p:nvSpPr>
          <p:cNvPr id="5" name="TextBox 4"/>
          <p:cNvSpPr txBox="1"/>
          <p:nvPr/>
        </p:nvSpPr>
        <p:spPr>
          <a:xfrm>
            <a:off x="640080" y="941832"/>
            <a:ext cx="7635240" cy="411480"/>
          </a:xfrm>
          <a:prstGeom prst="rect">
            <a:avLst/>
          </a:prstGeom>
          <a:noFill/>
        </p:spPr>
        <p:txBody>
          <a:bodyPr wrap="square" anchor="t">
            <a:spAutoFit/>
          </a:bodyPr>
          <a:lstStyle/>
          <a:p>
            <a:pPr algn="l"/>
            <a:r>
              <a:rPr sz="1600" b="0">
                <a:solidFill>
                  <a:srgbClr val="282C30"/>
                </a:solidFill>
                <a:latin typeface="Cambria"/>
              </a:rPr>
              <a:t>The graph is the same for all four models. What changes is how a node uses information from its neighbours.</a:t>
            </a:r>
          </a:p>
        </p:txBody>
      </p:sp>
      <p:sp>
        <p:nvSpPr>
          <p:cNvPr id="6" name="TextBox 5"/>
          <p:cNvSpPr txBox="1"/>
          <p:nvPr/>
        </p:nvSpPr>
        <p:spPr>
          <a:xfrm>
            <a:off x="594360" y="1600200"/>
            <a:ext cx="1828800" cy="320040"/>
          </a:xfrm>
          <a:prstGeom prst="rect">
            <a:avLst/>
          </a:prstGeom>
          <a:noFill/>
        </p:spPr>
        <p:txBody>
          <a:bodyPr wrap="square" anchor="t">
            <a:spAutoFit/>
          </a:bodyPr>
          <a:lstStyle/>
          <a:p>
            <a:pPr algn="ctr"/>
            <a:r>
              <a:rPr sz="1500" b="1">
                <a:solidFill>
                  <a:srgbClr val="375C7D"/>
                </a:solidFill>
                <a:latin typeface="Aptos"/>
              </a:rPr>
              <a:t>GCN</a:t>
            </a:r>
          </a:p>
        </p:txBody>
      </p:sp>
      <p:sp>
        <p:nvSpPr>
          <p:cNvPr id="7" name="Rectangle 6"/>
          <p:cNvSpPr/>
          <p:nvPr/>
        </p:nvSpPr>
        <p:spPr>
          <a:xfrm>
            <a:off x="731520" y="1993392"/>
            <a:ext cx="1554480" cy="16459"/>
          </a:xfrm>
          <a:prstGeom prst="rect">
            <a:avLst/>
          </a:prstGeom>
          <a:solidFill>
            <a:srgbClr val="375C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2148840"/>
            <a:ext cx="1874519" cy="411480"/>
          </a:xfrm>
          <a:prstGeom prst="rect">
            <a:avLst/>
          </a:prstGeom>
          <a:noFill/>
        </p:spPr>
        <p:txBody>
          <a:bodyPr wrap="square" anchor="t">
            <a:spAutoFit/>
          </a:bodyPr>
          <a:lstStyle/>
          <a:p>
            <a:pPr algn="ctr"/>
            <a:r>
              <a:rPr sz="1100" b="1">
                <a:solidFill>
                  <a:srgbClr val="22374C"/>
                </a:solidFill>
                <a:latin typeface="Cambria"/>
              </a:rPr>
              <a:t>Fixed normalized aggregation</a:t>
            </a:r>
          </a:p>
        </p:txBody>
      </p:sp>
      <p:sp>
        <p:nvSpPr>
          <p:cNvPr id="9" name="TextBox 8"/>
          <p:cNvSpPr txBox="1"/>
          <p:nvPr/>
        </p:nvSpPr>
        <p:spPr>
          <a:xfrm>
            <a:off x="685800" y="2651760"/>
            <a:ext cx="1874519" cy="960120"/>
          </a:xfrm>
          <a:prstGeom prst="rect">
            <a:avLst/>
          </a:prstGeom>
          <a:noFill/>
        </p:spPr>
        <p:txBody>
          <a:bodyPr wrap="square" anchor="t">
            <a:spAutoFit/>
          </a:bodyPr>
          <a:lstStyle/>
          <a:p>
            <a:pPr algn="ctr"/>
            <a:r>
              <a:rPr sz="1150" b="0">
                <a:solidFill>
                  <a:srgbClr val="282C30"/>
                </a:solidFill>
                <a:latin typeface="Cambria"/>
              </a:rPr>
              <a:t>Neighbour messages are weighted by graph degree.</a:t>
            </a:r>
          </a:p>
        </p:txBody>
      </p:sp>
      <p:sp>
        <p:nvSpPr>
          <p:cNvPr id="10" name="TextBox 9"/>
          <p:cNvSpPr txBox="1"/>
          <p:nvPr/>
        </p:nvSpPr>
        <p:spPr>
          <a:xfrm>
            <a:off x="685800" y="3730752"/>
            <a:ext cx="1874519" cy="731520"/>
          </a:xfrm>
          <a:prstGeom prst="rect">
            <a:avLst/>
          </a:prstGeom>
          <a:noFill/>
        </p:spPr>
        <p:txBody>
          <a:bodyPr wrap="square" anchor="t">
            <a:spAutoFit/>
          </a:bodyPr>
          <a:lstStyle/>
          <a:p>
            <a:pPr algn="ctr"/>
            <a:r>
              <a:rPr sz="1050" b="0">
                <a:solidFill>
                  <a:srgbClr val="5C6268"/>
                </a:solidFill>
                <a:latin typeface="Cambria"/>
              </a:rPr>
              <a:t>H⁽ˡ⁺¹⁾ = σ(D̃⁻¹ᐟ² Ã D̃⁻¹ᐟ² H⁽ˡ⁾W⁽ˡ⁾)</a:t>
            </a:r>
          </a:p>
        </p:txBody>
      </p:sp>
      <p:sp>
        <p:nvSpPr>
          <p:cNvPr id="11" name="TextBox 10"/>
          <p:cNvSpPr txBox="1"/>
          <p:nvPr/>
        </p:nvSpPr>
        <p:spPr>
          <a:xfrm>
            <a:off x="2670048" y="1600200"/>
            <a:ext cx="1828800" cy="320040"/>
          </a:xfrm>
          <a:prstGeom prst="rect">
            <a:avLst/>
          </a:prstGeom>
          <a:noFill/>
        </p:spPr>
        <p:txBody>
          <a:bodyPr wrap="square" anchor="t">
            <a:spAutoFit/>
          </a:bodyPr>
          <a:lstStyle/>
          <a:p>
            <a:pPr algn="ctr"/>
            <a:r>
              <a:rPr sz="1500" b="1">
                <a:solidFill>
                  <a:srgbClr val="375C7D"/>
                </a:solidFill>
                <a:latin typeface="Aptos"/>
              </a:rPr>
              <a:t>GraphSAGE</a:t>
            </a:r>
          </a:p>
        </p:txBody>
      </p:sp>
      <p:sp>
        <p:nvSpPr>
          <p:cNvPr id="12" name="Rectangle 11"/>
          <p:cNvSpPr/>
          <p:nvPr/>
        </p:nvSpPr>
        <p:spPr>
          <a:xfrm>
            <a:off x="2807208" y="1993392"/>
            <a:ext cx="1554480" cy="16459"/>
          </a:xfrm>
          <a:prstGeom prst="rect">
            <a:avLst/>
          </a:prstGeom>
          <a:solidFill>
            <a:srgbClr val="375C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761488" y="2148840"/>
            <a:ext cx="1874519" cy="411480"/>
          </a:xfrm>
          <a:prstGeom prst="rect">
            <a:avLst/>
          </a:prstGeom>
          <a:noFill/>
        </p:spPr>
        <p:txBody>
          <a:bodyPr wrap="square" anchor="t">
            <a:spAutoFit/>
          </a:bodyPr>
          <a:lstStyle/>
          <a:p>
            <a:pPr algn="ctr"/>
            <a:r>
              <a:rPr sz="1100" b="1">
                <a:solidFill>
                  <a:srgbClr val="22374C"/>
                </a:solidFill>
                <a:latin typeface="Cambria"/>
              </a:rPr>
              <a:t>Neighbour aggregation + self</a:t>
            </a:r>
          </a:p>
        </p:txBody>
      </p:sp>
      <p:sp>
        <p:nvSpPr>
          <p:cNvPr id="14" name="TextBox 13"/>
          <p:cNvSpPr txBox="1"/>
          <p:nvPr/>
        </p:nvSpPr>
        <p:spPr>
          <a:xfrm>
            <a:off x="2761488" y="2651760"/>
            <a:ext cx="1874519" cy="960120"/>
          </a:xfrm>
          <a:prstGeom prst="rect">
            <a:avLst/>
          </a:prstGeom>
          <a:noFill/>
        </p:spPr>
        <p:txBody>
          <a:bodyPr wrap="square" anchor="t">
            <a:spAutoFit/>
          </a:bodyPr>
          <a:lstStyle/>
          <a:p>
            <a:pPr algn="ctr"/>
            <a:r>
              <a:rPr sz="1150" b="0">
                <a:solidFill>
                  <a:srgbClr val="282C30"/>
                </a:solidFill>
                <a:latin typeface="Cambria"/>
              </a:rPr>
              <a:t>Aggregated neighbours are combined with the node's own representation.</a:t>
            </a:r>
          </a:p>
        </p:txBody>
      </p:sp>
      <p:sp>
        <p:nvSpPr>
          <p:cNvPr id="15" name="TextBox 14"/>
          <p:cNvSpPr txBox="1"/>
          <p:nvPr/>
        </p:nvSpPr>
        <p:spPr>
          <a:xfrm>
            <a:off x="2761488" y="3730752"/>
            <a:ext cx="1874519" cy="731520"/>
          </a:xfrm>
          <a:prstGeom prst="rect">
            <a:avLst/>
          </a:prstGeom>
          <a:noFill/>
        </p:spPr>
        <p:txBody>
          <a:bodyPr wrap="square" anchor="t">
            <a:spAutoFit/>
          </a:bodyPr>
          <a:lstStyle/>
          <a:p>
            <a:pPr algn="ctr"/>
            <a:r>
              <a:rPr sz="1050" b="0">
                <a:solidFill>
                  <a:srgbClr val="5C6268"/>
                </a:solidFill>
                <a:latin typeface="Cambria"/>
              </a:rPr>
              <a:t>h' = σ(W · [hᵢ || AGG(N(i))])</a:t>
            </a:r>
          </a:p>
        </p:txBody>
      </p:sp>
      <p:sp>
        <p:nvSpPr>
          <p:cNvPr id="16" name="TextBox 15"/>
          <p:cNvSpPr txBox="1"/>
          <p:nvPr/>
        </p:nvSpPr>
        <p:spPr>
          <a:xfrm>
            <a:off x="4745736" y="1600200"/>
            <a:ext cx="1828800" cy="320040"/>
          </a:xfrm>
          <a:prstGeom prst="rect">
            <a:avLst/>
          </a:prstGeom>
          <a:noFill/>
        </p:spPr>
        <p:txBody>
          <a:bodyPr wrap="square" anchor="t">
            <a:spAutoFit/>
          </a:bodyPr>
          <a:lstStyle/>
          <a:p>
            <a:pPr algn="ctr"/>
            <a:r>
              <a:rPr sz="1500" b="1">
                <a:solidFill>
                  <a:srgbClr val="375C7D"/>
                </a:solidFill>
                <a:latin typeface="Aptos"/>
              </a:rPr>
              <a:t>GAT</a:t>
            </a:r>
          </a:p>
        </p:txBody>
      </p:sp>
      <p:sp>
        <p:nvSpPr>
          <p:cNvPr id="17" name="Rectangle 16"/>
          <p:cNvSpPr/>
          <p:nvPr/>
        </p:nvSpPr>
        <p:spPr>
          <a:xfrm>
            <a:off x="4882896" y="1993392"/>
            <a:ext cx="1554480" cy="16459"/>
          </a:xfrm>
          <a:prstGeom prst="rect">
            <a:avLst/>
          </a:prstGeom>
          <a:solidFill>
            <a:srgbClr val="375C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837176" y="2148840"/>
            <a:ext cx="1874519" cy="411480"/>
          </a:xfrm>
          <a:prstGeom prst="rect">
            <a:avLst/>
          </a:prstGeom>
          <a:noFill/>
        </p:spPr>
        <p:txBody>
          <a:bodyPr wrap="square" anchor="t">
            <a:spAutoFit/>
          </a:bodyPr>
          <a:lstStyle/>
          <a:p>
            <a:pPr algn="ctr"/>
            <a:r>
              <a:rPr sz="1100" b="1">
                <a:solidFill>
                  <a:srgbClr val="22374C"/>
                </a:solidFill>
                <a:latin typeface="Cambria"/>
              </a:rPr>
              <a:t>Learned edge attention</a:t>
            </a:r>
          </a:p>
        </p:txBody>
      </p:sp>
      <p:sp>
        <p:nvSpPr>
          <p:cNvPr id="19" name="TextBox 18"/>
          <p:cNvSpPr txBox="1"/>
          <p:nvPr/>
        </p:nvSpPr>
        <p:spPr>
          <a:xfrm>
            <a:off x="4837176" y="2651760"/>
            <a:ext cx="1874519" cy="960120"/>
          </a:xfrm>
          <a:prstGeom prst="rect">
            <a:avLst/>
          </a:prstGeom>
          <a:noFill/>
        </p:spPr>
        <p:txBody>
          <a:bodyPr wrap="square" anchor="t">
            <a:spAutoFit/>
          </a:bodyPr>
          <a:lstStyle/>
          <a:p>
            <a:pPr algn="ctr"/>
            <a:r>
              <a:rPr sz="1150" b="0">
                <a:solidFill>
                  <a:srgbClr val="282C30"/>
                </a:solidFill>
                <a:latin typeface="Cambria"/>
              </a:rPr>
              <a:t>Each existing edge receives a learned attention weight.</a:t>
            </a:r>
          </a:p>
        </p:txBody>
      </p:sp>
      <p:sp>
        <p:nvSpPr>
          <p:cNvPr id="20" name="TextBox 19"/>
          <p:cNvSpPr txBox="1"/>
          <p:nvPr/>
        </p:nvSpPr>
        <p:spPr>
          <a:xfrm>
            <a:off x="4837176" y="3730752"/>
            <a:ext cx="1874519" cy="731520"/>
          </a:xfrm>
          <a:prstGeom prst="rect">
            <a:avLst/>
          </a:prstGeom>
          <a:noFill/>
        </p:spPr>
        <p:txBody>
          <a:bodyPr wrap="square" anchor="t">
            <a:spAutoFit/>
          </a:bodyPr>
          <a:lstStyle/>
          <a:p>
            <a:pPr algn="ctr"/>
            <a:r>
              <a:rPr sz="1050" b="0">
                <a:solidFill>
                  <a:srgbClr val="5C6268"/>
                </a:solidFill>
                <a:latin typeface="Cambria"/>
              </a:rPr>
              <a:t>αᵢⱼ = softmax(score(hᵢ,hⱼ))</a:t>
            </a:r>
          </a:p>
        </p:txBody>
      </p:sp>
      <p:sp>
        <p:nvSpPr>
          <p:cNvPr id="21" name="TextBox 20"/>
          <p:cNvSpPr txBox="1"/>
          <p:nvPr/>
        </p:nvSpPr>
        <p:spPr>
          <a:xfrm>
            <a:off x="6821424" y="1600200"/>
            <a:ext cx="1828800" cy="320040"/>
          </a:xfrm>
          <a:prstGeom prst="rect">
            <a:avLst/>
          </a:prstGeom>
          <a:noFill/>
        </p:spPr>
        <p:txBody>
          <a:bodyPr wrap="square" anchor="t">
            <a:spAutoFit/>
          </a:bodyPr>
          <a:lstStyle/>
          <a:p>
            <a:pPr algn="ctr"/>
            <a:r>
              <a:rPr sz="1500" b="1">
                <a:solidFill>
                  <a:srgbClr val="375C7D"/>
                </a:solidFill>
                <a:latin typeface="Aptos"/>
              </a:rPr>
              <a:t>HGT-style</a:t>
            </a:r>
          </a:p>
        </p:txBody>
      </p:sp>
      <p:sp>
        <p:nvSpPr>
          <p:cNvPr id="22" name="Rectangle 21"/>
          <p:cNvSpPr/>
          <p:nvPr/>
        </p:nvSpPr>
        <p:spPr>
          <a:xfrm>
            <a:off x="6958584" y="1993392"/>
            <a:ext cx="1554480" cy="16459"/>
          </a:xfrm>
          <a:prstGeom prst="rect">
            <a:avLst/>
          </a:prstGeom>
          <a:solidFill>
            <a:srgbClr val="375C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912864" y="2148840"/>
            <a:ext cx="1874519" cy="411480"/>
          </a:xfrm>
          <a:prstGeom prst="rect">
            <a:avLst/>
          </a:prstGeom>
          <a:noFill/>
        </p:spPr>
        <p:txBody>
          <a:bodyPr wrap="square" anchor="t">
            <a:spAutoFit/>
          </a:bodyPr>
          <a:lstStyle/>
          <a:p>
            <a:pPr algn="ctr"/>
            <a:r>
              <a:rPr sz="1100" b="1">
                <a:solidFill>
                  <a:srgbClr val="22374C"/>
                </a:solidFill>
                <a:latin typeface="Cambria"/>
              </a:rPr>
              <a:t>Type-aware attention</a:t>
            </a:r>
          </a:p>
        </p:txBody>
      </p:sp>
      <p:sp>
        <p:nvSpPr>
          <p:cNvPr id="24" name="TextBox 23"/>
          <p:cNvSpPr txBox="1"/>
          <p:nvPr/>
        </p:nvSpPr>
        <p:spPr>
          <a:xfrm>
            <a:off x="6912864" y="2651760"/>
            <a:ext cx="1874519" cy="960120"/>
          </a:xfrm>
          <a:prstGeom prst="rect">
            <a:avLst/>
          </a:prstGeom>
          <a:noFill/>
        </p:spPr>
        <p:txBody>
          <a:bodyPr wrap="square" anchor="t">
            <a:spAutoFit/>
          </a:bodyPr>
          <a:lstStyle/>
          <a:p>
            <a:pPr algn="ctr"/>
            <a:r>
              <a:rPr sz="1150" b="0">
                <a:solidFill>
                  <a:srgbClr val="282C30"/>
                </a:solidFill>
                <a:latin typeface="Cambria"/>
              </a:rPr>
              <a:t>Attention also uses node type and relation type, with residual + layer norm.</a:t>
            </a:r>
          </a:p>
        </p:txBody>
      </p:sp>
      <p:sp>
        <p:nvSpPr>
          <p:cNvPr id="25" name="TextBox 24"/>
          <p:cNvSpPr txBox="1"/>
          <p:nvPr/>
        </p:nvSpPr>
        <p:spPr>
          <a:xfrm>
            <a:off x="6912864" y="3730752"/>
            <a:ext cx="1874519" cy="731520"/>
          </a:xfrm>
          <a:prstGeom prst="rect">
            <a:avLst/>
          </a:prstGeom>
          <a:noFill/>
        </p:spPr>
        <p:txBody>
          <a:bodyPr wrap="square" anchor="t">
            <a:spAutoFit/>
          </a:bodyPr>
          <a:lstStyle/>
          <a:p>
            <a:pPr algn="ctr"/>
            <a:r>
              <a:rPr sz="1050" b="0">
                <a:solidFill>
                  <a:srgbClr val="5C6268"/>
                </a:solidFill>
                <a:latin typeface="Cambria"/>
              </a:rPr>
              <a:t>attention + type/relation bias</a:t>
            </a:r>
          </a:p>
        </p:txBody>
      </p:sp>
      <p:sp>
        <p:nvSpPr>
          <p:cNvPr id="26" name="Rectangle 25"/>
          <p:cNvSpPr/>
          <p:nvPr/>
        </p:nvSpPr>
        <p:spPr>
          <a:xfrm>
            <a:off x="640080" y="4736592"/>
            <a:ext cx="7726679" cy="16459"/>
          </a:xfrm>
          <a:prstGeom prst="rect">
            <a:avLst/>
          </a:prstGeom>
          <a:solidFill>
            <a:srgbClr val="375C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0080" y="4983480"/>
            <a:ext cx="2011680" cy="256032"/>
          </a:xfrm>
          <a:prstGeom prst="rect">
            <a:avLst/>
          </a:prstGeom>
          <a:noFill/>
        </p:spPr>
        <p:txBody>
          <a:bodyPr wrap="square" anchor="t">
            <a:spAutoFit/>
          </a:bodyPr>
          <a:lstStyle/>
          <a:p>
            <a:pPr algn="l"/>
            <a:r>
              <a:rPr sz="1200" b="1">
                <a:solidFill>
                  <a:srgbClr val="375C7D"/>
                </a:solidFill>
                <a:latin typeface="Aptos"/>
              </a:rPr>
              <a:t>COMMON SETUP</a:t>
            </a:r>
          </a:p>
        </p:txBody>
      </p:sp>
      <p:sp>
        <p:nvSpPr>
          <p:cNvPr id="28" name="TextBox 27"/>
          <p:cNvSpPr txBox="1"/>
          <p:nvPr/>
        </p:nvSpPr>
        <p:spPr>
          <a:xfrm>
            <a:off x="685800" y="5349240"/>
            <a:ext cx="7315200" cy="868680"/>
          </a:xfrm>
          <a:prstGeom prst="rect">
            <a:avLst/>
          </a:prstGeom>
          <a:noFill/>
        </p:spPr>
        <p:txBody>
          <a:bodyPr wrap="square">
            <a:spAutoFit/>
          </a:bodyPr>
          <a:lstStyle/>
          <a:p>
            <a:pPr>
              <a:spcAft>
                <a:spcPts val="500"/>
              </a:spcAft>
              <a:defRPr sz="1250">
                <a:solidFill>
                  <a:srgbClr val="282C30"/>
                </a:solidFill>
                <a:latin typeface="Cambria"/>
              </a:defRPr>
            </a:pPr>
            <a:r>
              <a:t>• Two message-passing layers • hidden size 48 • dropout 0.20 • eight sector nodes used for prediction.</a:t>
            </a:r>
          </a:p>
          <a:p>
            <a:pPr>
              <a:spcAft>
                <a:spcPts val="500"/>
              </a:spcAft>
              <a:defRPr sz="1250">
                <a:solidFill>
                  <a:srgbClr val="282C30"/>
                </a:solidFill>
                <a:latin typeface="Cambria"/>
              </a:defRPr>
            </a:pPr>
            <a:r>
              <a:t>• GAT and HGT-style use four attention heads; HGT-style additionally conditions attention on node and relation types.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TextBox 134"/>
          <p:cNvSpPr txBox="1"/>
          <p:nvPr/>
        </p:nvSpPr>
        <p:spPr>
          <a:xfrm>
            <a:off x="502920" y="256032"/>
            <a:ext cx="7680960" cy="411480"/>
          </a:xfrm>
          <a:prstGeom prst="rect">
            <a:avLst/>
          </a:prstGeom>
          <a:noFill/>
        </p:spPr>
        <p:txBody>
          <a:bodyPr wrap="square" anchor="t">
            <a:spAutoFit/>
          </a:bodyPr>
          <a:lstStyle/>
          <a:p>
            <a:pPr algn="l"/>
            <a:r>
              <a:rPr sz="2500" b="1">
                <a:solidFill>
                  <a:srgbClr val="22374C"/>
                </a:solidFill>
                <a:latin typeface="Cambria"/>
              </a:rPr>
              <a:t>Results &amp; Milestones</a:t>
            </a:r>
          </a:p>
        </p:txBody>
      </p:sp>
      <p:sp>
        <p:nvSpPr>
          <p:cNvPr id="136" name="Rectangle 135"/>
          <p:cNvSpPr/>
          <p:nvPr/>
        </p:nvSpPr>
        <p:spPr>
          <a:xfrm>
            <a:off x="502920" y="758952"/>
            <a:ext cx="8138160" cy="16459"/>
          </a:xfrm>
          <a:prstGeom prst="rect">
            <a:avLst/>
          </a:prstGeom>
          <a:solidFill>
            <a:srgbClr val="375C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TextBox 136"/>
          <p:cNvSpPr txBox="1"/>
          <p:nvPr/>
        </p:nvSpPr>
        <p:spPr>
          <a:xfrm>
            <a:off x="8339327" y="283464"/>
            <a:ext cx="320040" cy="228600"/>
          </a:xfrm>
          <a:prstGeom prst="rect">
            <a:avLst/>
          </a:prstGeom>
          <a:noFill/>
        </p:spPr>
        <p:txBody>
          <a:bodyPr wrap="square" anchor="t">
            <a:spAutoFit/>
          </a:bodyPr>
          <a:lstStyle/>
          <a:p>
            <a:pPr algn="r"/>
            <a:r>
              <a:rPr sz="1000" b="0">
                <a:solidFill>
                  <a:srgbClr val="5C6268"/>
                </a:solidFill>
                <a:latin typeface="Aptos"/>
              </a:rPr>
              <a:t>9</a:t>
            </a:r>
          </a:p>
        </p:txBody>
      </p:sp>
      <p:sp>
        <p:nvSpPr>
          <p:cNvPr id="138" name="TextBox 137"/>
          <p:cNvSpPr txBox="1"/>
          <p:nvPr/>
        </p:nvSpPr>
        <p:spPr>
          <a:xfrm>
            <a:off x="594360" y="960120"/>
            <a:ext cx="3657600" cy="256032"/>
          </a:xfrm>
          <a:prstGeom prst="rect">
            <a:avLst/>
          </a:prstGeom>
          <a:noFill/>
        </p:spPr>
        <p:txBody>
          <a:bodyPr wrap="square" anchor="t">
            <a:spAutoFit/>
          </a:bodyPr>
          <a:lstStyle/>
          <a:p>
            <a:pPr algn="l"/>
            <a:r>
              <a:rPr sz="1200" b="1">
                <a:solidFill>
                  <a:srgbClr val="375C7D"/>
                </a:solidFill>
                <a:latin typeface="Aptos"/>
              </a:rPr>
              <a:t>CLASSICAL ML — MEAN TEST RESULTS</a:t>
            </a:r>
          </a:p>
        </p:txBody>
      </p:sp>
      <p:graphicFrame>
        <p:nvGraphicFramePr>
          <p:cNvPr id="139" name="Table 138"/>
          <p:cNvGraphicFramePr>
            <a:graphicFrameLocks noGrp="1"/>
          </p:cNvGraphicFramePr>
          <p:nvPr/>
        </p:nvGraphicFramePr>
        <p:xfrm>
          <a:off x="594360" y="1298448"/>
          <a:ext cx="4983480" cy="1983740"/>
        </p:xfrm>
        <a:graphic>
          <a:graphicData uri="http://schemas.openxmlformats.org/drawingml/2006/table">
            <a:tbl>
              <a:tblPr firstRow="1" bandRow="1">
                <a:tableStyleId>{5C22544A-7EE6-4342-B048-85BDC9FD1C3A}</a:tableStyleId>
              </a:tblPr>
              <a:tblGrid>
                <a:gridCol w="996696">
                  <a:extLst>
                    <a:ext uri="{9D8B030D-6E8A-4147-A177-3AD203B41FA5}">
                      <a16:colId xmlns:a16="http://schemas.microsoft.com/office/drawing/2014/main" val="20000"/>
                    </a:ext>
                  </a:extLst>
                </a:gridCol>
                <a:gridCol w="996696">
                  <a:extLst>
                    <a:ext uri="{9D8B030D-6E8A-4147-A177-3AD203B41FA5}">
                      <a16:colId xmlns:a16="http://schemas.microsoft.com/office/drawing/2014/main" val="20001"/>
                    </a:ext>
                  </a:extLst>
                </a:gridCol>
                <a:gridCol w="996696">
                  <a:extLst>
                    <a:ext uri="{9D8B030D-6E8A-4147-A177-3AD203B41FA5}">
                      <a16:colId xmlns:a16="http://schemas.microsoft.com/office/drawing/2014/main" val="20002"/>
                    </a:ext>
                  </a:extLst>
                </a:gridCol>
                <a:gridCol w="996696">
                  <a:extLst>
                    <a:ext uri="{9D8B030D-6E8A-4147-A177-3AD203B41FA5}">
                      <a16:colId xmlns:a16="http://schemas.microsoft.com/office/drawing/2014/main" val="20003"/>
                    </a:ext>
                  </a:extLst>
                </a:gridCol>
                <a:gridCol w="996696">
                  <a:extLst>
                    <a:ext uri="{9D8B030D-6E8A-4147-A177-3AD203B41FA5}">
                      <a16:colId xmlns:a16="http://schemas.microsoft.com/office/drawing/2014/main" val="20004"/>
                    </a:ext>
                  </a:extLst>
                </a:gridCol>
              </a:tblGrid>
              <a:tr h="393192">
                <a:tc>
                  <a:txBody>
                    <a:bodyPr/>
                    <a:lstStyle/>
                    <a:p>
                      <a:pPr algn="l"/>
                      <a:r>
                        <a:rPr sz="1050" b="1">
                          <a:solidFill>
                            <a:srgbClr val="FFFFFF"/>
                          </a:solidFill>
                          <a:latin typeface="Cambria"/>
                        </a:rPr>
                        <a:t>Model</a:t>
                      </a:r>
                    </a:p>
                  </a:txBody>
                  <a:tcPr marL="36576" marR="36576">
                    <a:solidFill>
                      <a:srgbClr val="375C7D"/>
                    </a:solidFill>
                  </a:tcPr>
                </a:tc>
                <a:tc>
                  <a:txBody>
                    <a:bodyPr/>
                    <a:lstStyle/>
                    <a:p>
                      <a:pPr algn="l"/>
                      <a:r>
                        <a:rPr sz="1050" b="1">
                          <a:solidFill>
                            <a:srgbClr val="FFFFFF"/>
                          </a:solidFill>
                          <a:latin typeface="Cambria"/>
                        </a:rPr>
                        <a:t>Features</a:t>
                      </a:r>
                    </a:p>
                  </a:txBody>
                  <a:tcPr marL="36576" marR="36576">
                    <a:solidFill>
                      <a:srgbClr val="375C7D"/>
                    </a:solidFill>
                  </a:tcPr>
                </a:tc>
                <a:tc>
                  <a:txBody>
                    <a:bodyPr/>
                    <a:lstStyle/>
                    <a:p>
                      <a:pPr algn="ctr"/>
                      <a:r>
                        <a:rPr sz="1050" b="1">
                          <a:solidFill>
                            <a:srgbClr val="FFFFFF"/>
                          </a:solidFill>
                          <a:latin typeface="Cambria"/>
                        </a:rPr>
                        <a:t>Accuracy</a:t>
                      </a:r>
                    </a:p>
                  </a:txBody>
                  <a:tcPr marL="36576" marR="36576">
                    <a:solidFill>
                      <a:srgbClr val="375C7D"/>
                    </a:solidFill>
                  </a:tcPr>
                </a:tc>
                <a:tc>
                  <a:txBody>
                    <a:bodyPr/>
                    <a:lstStyle/>
                    <a:p>
                      <a:pPr algn="ctr"/>
                      <a:r>
                        <a:rPr sz="1050" b="1">
                          <a:solidFill>
                            <a:srgbClr val="FFFFFF"/>
                          </a:solidFill>
                          <a:latin typeface="Cambria"/>
                        </a:rPr>
                        <a:t>Macro F1</a:t>
                      </a:r>
                    </a:p>
                  </a:txBody>
                  <a:tcPr marL="36576" marR="36576">
                    <a:solidFill>
                      <a:srgbClr val="375C7D"/>
                    </a:solidFill>
                  </a:tcPr>
                </a:tc>
                <a:tc>
                  <a:txBody>
                    <a:bodyPr/>
                    <a:lstStyle/>
                    <a:p>
                      <a:pPr algn="ctr"/>
                      <a:r>
                        <a:rPr sz="1050" b="1">
                          <a:solidFill>
                            <a:srgbClr val="FFFFFF"/>
                          </a:solidFill>
                          <a:latin typeface="Cambria"/>
                        </a:rPr>
                        <a:t>ROC-AUC</a:t>
                      </a:r>
                    </a:p>
                  </a:txBody>
                  <a:tcPr marL="36576" marR="36576">
                    <a:solidFill>
                      <a:srgbClr val="375C7D"/>
                    </a:solidFill>
                  </a:tcPr>
                </a:tc>
                <a:extLst>
                  <a:ext uri="{0D108BD9-81ED-4DB2-BD59-A6C34878D82A}">
                    <a16:rowId xmlns:a16="http://schemas.microsoft.com/office/drawing/2014/main" val="10000"/>
                  </a:ext>
                </a:extLst>
              </a:tr>
              <a:tr h="393192">
                <a:tc>
                  <a:txBody>
                    <a:bodyPr/>
                    <a:lstStyle/>
                    <a:p>
                      <a:pPr algn="l"/>
                      <a:r>
                        <a:rPr sz="1019" b="1">
                          <a:solidFill>
                            <a:srgbClr val="282C30"/>
                          </a:solidFill>
                          <a:latin typeface="Cambria"/>
                        </a:rPr>
                        <a:t>Random Forest E1</a:t>
                      </a:r>
                    </a:p>
                  </a:txBody>
                  <a:tcPr marL="36576" marR="36576">
                    <a:solidFill>
                      <a:srgbClr val="FFFFFF"/>
                    </a:solidFill>
                  </a:tcPr>
                </a:tc>
                <a:tc>
                  <a:txBody>
                    <a:bodyPr/>
                    <a:lstStyle/>
                    <a:p>
                      <a:pPr algn="l"/>
                      <a:r>
                        <a:rPr sz="1019" b="0">
                          <a:solidFill>
                            <a:srgbClr val="282C30"/>
                          </a:solidFill>
                          <a:latin typeface="Cambria"/>
                        </a:rPr>
                        <a:t>Tech + GDELT</a:t>
                      </a:r>
                    </a:p>
                  </a:txBody>
                  <a:tcPr marL="36576" marR="36576">
                    <a:solidFill>
                      <a:srgbClr val="FFFFFF"/>
                    </a:solidFill>
                  </a:tcPr>
                </a:tc>
                <a:tc>
                  <a:txBody>
                    <a:bodyPr/>
                    <a:lstStyle/>
                    <a:p>
                      <a:pPr algn="ctr"/>
                      <a:r>
                        <a:rPr sz="1019" b="0">
                          <a:solidFill>
                            <a:srgbClr val="282C30"/>
                          </a:solidFill>
                          <a:latin typeface="Cambria"/>
                        </a:rPr>
                        <a:t>50.77%</a:t>
                      </a:r>
                    </a:p>
                  </a:txBody>
                  <a:tcPr marL="36576" marR="36576">
                    <a:solidFill>
                      <a:srgbClr val="FFFFFF"/>
                    </a:solidFill>
                  </a:tcPr>
                </a:tc>
                <a:tc>
                  <a:txBody>
                    <a:bodyPr/>
                    <a:lstStyle/>
                    <a:p>
                      <a:pPr algn="ctr"/>
                      <a:r>
                        <a:rPr sz="1019" b="0">
                          <a:solidFill>
                            <a:srgbClr val="282C30"/>
                          </a:solidFill>
                          <a:latin typeface="Cambria"/>
                        </a:rPr>
                        <a:t>44.41%</a:t>
                      </a:r>
                    </a:p>
                  </a:txBody>
                  <a:tcPr marL="36576" marR="36576">
                    <a:solidFill>
                      <a:srgbClr val="FFFFFF"/>
                    </a:solidFill>
                  </a:tcPr>
                </a:tc>
                <a:tc>
                  <a:txBody>
                    <a:bodyPr/>
                    <a:lstStyle/>
                    <a:p>
                      <a:pPr algn="ctr"/>
                      <a:r>
                        <a:rPr sz="1019" b="0">
                          <a:solidFill>
                            <a:srgbClr val="282C30"/>
                          </a:solidFill>
                          <a:latin typeface="Cambria"/>
                        </a:rPr>
                        <a:t>0.5315</a:t>
                      </a:r>
                    </a:p>
                  </a:txBody>
                  <a:tcPr marL="36576" marR="36576">
                    <a:solidFill>
                      <a:srgbClr val="FFFFFF"/>
                    </a:solidFill>
                  </a:tcPr>
                </a:tc>
                <a:extLst>
                  <a:ext uri="{0D108BD9-81ED-4DB2-BD59-A6C34878D82A}">
                    <a16:rowId xmlns:a16="http://schemas.microsoft.com/office/drawing/2014/main" val="10001"/>
                  </a:ext>
                </a:extLst>
              </a:tr>
              <a:tr h="393192">
                <a:tc>
                  <a:txBody>
                    <a:bodyPr/>
                    <a:lstStyle/>
                    <a:p>
                      <a:pPr algn="l"/>
                      <a:r>
                        <a:rPr sz="1019" b="1">
                          <a:solidFill>
                            <a:srgbClr val="282C30"/>
                          </a:solidFill>
                          <a:latin typeface="Cambria"/>
                        </a:rPr>
                        <a:t>Random Forest E2</a:t>
                      </a:r>
                    </a:p>
                  </a:txBody>
                  <a:tcPr marL="36576" marR="36576">
                    <a:solidFill>
                      <a:srgbClr val="EEF1F3"/>
                    </a:solidFill>
                  </a:tcPr>
                </a:tc>
                <a:tc>
                  <a:txBody>
                    <a:bodyPr/>
                    <a:lstStyle/>
                    <a:p>
                      <a:pPr algn="l"/>
                      <a:r>
                        <a:rPr sz="1019" b="0">
                          <a:solidFill>
                            <a:srgbClr val="282C30"/>
                          </a:solidFill>
                          <a:latin typeface="Cambria"/>
                        </a:rPr>
                        <a:t>Technical</a:t>
                      </a:r>
                    </a:p>
                  </a:txBody>
                  <a:tcPr marL="36576" marR="36576">
                    <a:solidFill>
                      <a:srgbClr val="EEF1F3"/>
                    </a:solidFill>
                  </a:tcPr>
                </a:tc>
                <a:tc>
                  <a:txBody>
                    <a:bodyPr/>
                    <a:lstStyle/>
                    <a:p>
                      <a:pPr algn="ctr"/>
                      <a:r>
                        <a:rPr sz="1019" b="0">
                          <a:solidFill>
                            <a:srgbClr val="282C30"/>
                          </a:solidFill>
                          <a:latin typeface="Cambria"/>
                        </a:rPr>
                        <a:t>50.62%</a:t>
                      </a:r>
                    </a:p>
                  </a:txBody>
                  <a:tcPr marL="36576" marR="36576">
                    <a:solidFill>
                      <a:srgbClr val="EEF1F3"/>
                    </a:solidFill>
                  </a:tcPr>
                </a:tc>
                <a:tc>
                  <a:txBody>
                    <a:bodyPr/>
                    <a:lstStyle/>
                    <a:p>
                      <a:pPr algn="ctr"/>
                      <a:r>
                        <a:rPr sz="1019" b="0">
                          <a:solidFill>
                            <a:srgbClr val="282C30"/>
                          </a:solidFill>
                          <a:latin typeface="Cambria"/>
                        </a:rPr>
                        <a:t>42.93%</a:t>
                      </a:r>
                    </a:p>
                  </a:txBody>
                  <a:tcPr marL="36576" marR="36576">
                    <a:solidFill>
                      <a:srgbClr val="EEF1F3"/>
                    </a:solidFill>
                  </a:tcPr>
                </a:tc>
                <a:tc>
                  <a:txBody>
                    <a:bodyPr/>
                    <a:lstStyle/>
                    <a:p>
                      <a:pPr algn="ctr"/>
                      <a:r>
                        <a:rPr sz="1019" b="0">
                          <a:solidFill>
                            <a:srgbClr val="282C30"/>
                          </a:solidFill>
                          <a:latin typeface="Cambria"/>
                        </a:rPr>
                        <a:t>0.5310</a:t>
                      </a:r>
                    </a:p>
                  </a:txBody>
                  <a:tcPr marL="36576" marR="36576">
                    <a:solidFill>
                      <a:srgbClr val="EEF1F3"/>
                    </a:solidFill>
                  </a:tcPr>
                </a:tc>
                <a:extLst>
                  <a:ext uri="{0D108BD9-81ED-4DB2-BD59-A6C34878D82A}">
                    <a16:rowId xmlns:a16="http://schemas.microsoft.com/office/drawing/2014/main" val="10002"/>
                  </a:ext>
                </a:extLst>
              </a:tr>
              <a:tr h="393192">
                <a:tc>
                  <a:txBody>
                    <a:bodyPr/>
                    <a:lstStyle/>
                    <a:p>
                      <a:pPr algn="l"/>
                      <a:r>
                        <a:rPr sz="1019" b="1">
                          <a:solidFill>
                            <a:srgbClr val="282C30"/>
                          </a:solidFill>
                          <a:latin typeface="Cambria"/>
                        </a:rPr>
                        <a:t>XGBoost E1</a:t>
                      </a:r>
                    </a:p>
                  </a:txBody>
                  <a:tcPr marL="36576" marR="36576">
                    <a:solidFill>
                      <a:srgbClr val="FFFFFF"/>
                    </a:solidFill>
                  </a:tcPr>
                </a:tc>
                <a:tc>
                  <a:txBody>
                    <a:bodyPr/>
                    <a:lstStyle/>
                    <a:p>
                      <a:pPr algn="l"/>
                      <a:r>
                        <a:rPr sz="1019" b="0">
                          <a:solidFill>
                            <a:srgbClr val="282C30"/>
                          </a:solidFill>
                          <a:latin typeface="Cambria"/>
                        </a:rPr>
                        <a:t>Tech + GDELT</a:t>
                      </a:r>
                    </a:p>
                  </a:txBody>
                  <a:tcPr marL="36576" marR="36576">
                    <a:solidFill>
                      <a:srgbClr val="FFFFFF"/>
                    </a:solidFill>
                  </a:tcPr>
                </a:tc>
                <a:tc>
                  <a:txBody>
                    <a:bodyPr/>
                    <a:lstStyle/>
                    <a:p>
                      <a:pPr algn="ctr"/>
                      <a:r>
                        <a:rPr sz="1019" b="0">
                          <a:solidFill>
                            <a:srgbClr val="282C30"/>
                          </a:solidFill>
                          <a:latin typeface="Cambria"/>
                        </a:rPr>
                        <a:t>50.03%</a:t>
                      </a:r>
                    </a:p>
                  </a:txBody>
                  <a:tcPr marL="36576" marR="36576">
                    <a:solidFill>
                      <a:srgbClr val="FFFFFF"/>
                    </a:solidFill>
                  </a:tcPr>
                </a:tc>
                <a:tc>
                  <a:txBody>
                    <a:bodyPr/>
                    <a:lstStyle/>
                    <a:p>
                      <a:pPr algn="ctr"/>
                      <a:r>
                        <a:rPr sz="1019" b="0">
                          <a:solidFill>
                            <a:srgbClr val="282C30"/>
                          </a:solidFill>
                          <a:latin typeface="Cambria"/>
                        </a:rPr>
                        <a:t>39.56%</a:t>
                      </a:r>
                    </a:p>
                  </a:txBody>
                  <a:tcPr marL="36576" marR="36576">
                    <a:solidFill>
                      <a:srgbClr val="FFFFFF"/>
                    </a:solidFill>
                  </a:tcPr>
                </a:tc>
                <a:tc>
                  <a:txBody>
                    <a:bodyPr/>
                    <a:lstStyle/>
                    <a:p>
                      <a:pPr algn="ctr"/>
                      <a:r>
                        <a:rPr sz="1019" b="0">
                          <a:solidFill>
                            <a:srgbClr val="282C30"/>
                          </a:solidFill>
                          <a:latin typeface="Cambria"/>
                        </a:rPr>
                        <a:t>0.5060</a:t>
                      </a:r>
                    </a:p>
                  </a:txBody>
                  <a:tcPr marL="36576" marR="36576">
                    <a:solidFill>
                      <a:srgbClr val="FFFFFF"/>
                    </a:solidFill>
                  </a:tcPr>
                </a:tc>
                <a:extLst>
                  <a:ext uri="{0D108BD9-81ED-4DB2-BD59-A6C34878D82A}">
                    <a16:rowId xmlns:a16="http://schemas.microsoft.com/office/drawing/2014/main" val="10003"/>
                  </a:ext>
                </a:extLst>
              </a:tr>
              <a:tr h="393192">
                <a:tc>
                  <a:txBody>
                    <a:bodyPr/>
                    <a:lstStyle/>
                    <a:p>
                      <a:pPr algn="l"/>
                      <a:r>
                        <a:rPr sz="1019" b="1">
                          <a:solidFill>
                            <a:srgbClr val="282C30"/>
                          </a:solidFill>
                          <a:latin typeface="Cambria"/>
                        </a:rPr>
                        <a:t>XGBoost E2</a:t>
                      </a:r>
                    </a:p>
                  </a:txBody>
                  <a:tcPr marL="36576" marR="36576">
                    <a:solidFill>
                      <a:srgbClr val="EEF1F3"/>
                    </a:solidFill>
                  </a:tcPr>
                </a:tc>
                <a:tc>
                  <a:txBody>
                    <a:bodyPr/>
                    <a:lstStyle/>
                    <a:p>
                      <a:pPr algn="l"/>
                      <a:r>
                        <a:rPr sz="1019" b="0">
                          <a:solidFill>
                            <a:srgbClr val="282C30"/>
                          </a:solidFill>
                          <a:latin typeface="Cambria"/>
                        </a:rPr>
                        <a:t>Technical</a:t>
                      </a:r>
                    </a:p>
                  </a:txBody>
                  <a:tcPr marL="36576" marR="36576">
                    <a:solidFill>
                      <a:srgbClr val="EEF1F3"/>
                    </a:solidFill>
                  </a:tcPr>
                </a:tc>
                <a:tc>
                  <a:txBody>
                    <a:bodyPr/>
                    <a:lstStyle/>
                    <a:p>
                      <a:pPr algn="ctr"/>
                      <a:r>
                        <a:rPr sz="1019" b="0">
                          <a:solidFill>
                            <a:srgbClr val="282C30"/>
                          </a:solidFill>
                          <a:latin typeface="Cambria"/>
                        </a:rPr>
                        <a:t>51.67%</a:t>
                      </a:r>
                    </a:p>
                  </a:txBody>
                  <a:tcPr marL="36576" marR="36576">
                    <a:solidFill>
                      <a:srgbClr val="EEF1F3"/>
                    </a:solidFill>
                  </a:tcPr>
                </a:tc>
                <a:tc>
                  <a:txBody>
                    <a:bodyPr/>
                    <a:lstStyle/>
                    <a:p>
                      <a:pPr algn="ctr"/>
                      <a:r>
                        <a:rPr sz="1019" b="0">
                          <a:solidFill>
                            <a:srgbClr val="282C30"/>
                          </a:solidFill>
                          <a:latin typeface="Cambria"/>
                        </a:rPr>
                        <a:t>44.23%</a:t>
                      </a:r>
                    </a:p>
                  </a:txBody>
                  <a:tcPr marL="36576" marR="36576">
                    <a:solidFill>
                      <a:srgbClr val="EEF1F3"/>
                    </a:solidFill>
                  </a:tcPr>
                </a:tc>
                <a:tc>
                  <a:txBody>
                    <a:bodyPr/>
                    <a:lstStyle/>
                    <a:p>
                      <a:pPr algn="ctr"/>
                      <a:r>
                        <a:rPr sz="1019" b="0">
                          <a:solidFill>
                            <a:srgbClr val="282C30"/>
                          </a:solidFill>
                          <a:latin typeface="Cambria"/>
                        </a:rPr>
                        <a:t>0.5134</a:t>
                      </a:r>
                    </a:p>
                  </a:txBody>
                  <a:tcPr marL="36576" marR="36576">
                    <a:solidFill>
                      <a:srgbClr val="EEF1F3"/>
                    </a:solidFill>
                  </a:tcPr>
                </a:tc>
                <a:extLst>
                  <a:ext uri="{0D108BD9-81ED-4DB2-BD59-A6C34878D82A}">
                    <a16:rowId xmlns:a16="http://schemas.microsoft.com/office/drawing/2014/main" val="10004"/>
                  </a:ext>
                </a:extLst>
              </a:tr>
            </a:tbl>
          </a:graphicData>
        </a:graphic>
      </p:graphicFrame>
      <p:sp>
        <p:nvSpPr>
          <p:cNvPr id="140" name="TextBox 139"/>
          <p:cNvSpPr txBox="1"/>
          <p:nvPr/>
        </p:nvSpPr>
        <p:spPr>
          <a:xfrm>
            <a:off x="5806440" y="960120"/>
            <a:ext cx="2286000" cy="256032"/>
          </a:xfrm>
          <a:prstGeom prst="rect">
            <a:avLst/>
          </a:prstGeom>
          <a:noFill/>
        </p:spPr>
        <p:txBody>
          <a:bodyPr wrap="square" anchor="t">
            <a:spAutoFit/>
          </a:bodyPr>
          <a:lstStyle/>
          <a:p>
            <a:pPr algn="l"/>
            <a:r>
              <a:rPr sz="1200" b="1">
                <a:solidFill>
                  <a:srgbClr val="375C7D"/>
                </a:solidFill>
                <a:latin typeface="Aptos"/>
              </a:rPr>
              <a:t>INTERPRETATION</a:t>
            </a:r>
          </a:p>
        </p:txBody>
      </p:sp>
      <p:sp>
        <p:nvSpPr>
          <p:cNvPr id="141" name="TextBox 140"/>
          <p:cNvSpPr txBox="1"/>
          <p:nvPr/>
        </p:nvSpPr>
        <p:spPr>
          <a:xfrm>
            <a:off x="5852160" y="1298448"/>
            <a:ext cx="2240280" cy="1783080"/>
          </a:xfrm>
          <a:prstGeom prst="rect">
            <a:avLst/>
          </a:prstGeom>
          <a:noFill/>
        </p:spPr>
        <p:txBody>
          <a:bodyPr wrap="square">
            <a:spAutoFit/>
          </a:bodyPr>
          <a:lstStyle/>
          <a:p>
            <a:pPr>
              <a:spcAft>
                <a:spcPts val="500"/>
              </a:spcAft>
              <a:defRPr sz="1200">
                <a:solidFill>
                  <a:srgbClr val="282C30"/>
                </a:solidFill>
                <a:latin typeface="Cambria"/>
              </a:defRPr>
            </a:pPr>
            <a:r>
              <a:t>• Accuracy remains close to the 50% reference.</a:t>
            </a:r>
          </a:p>
          <a:p>
            <a:pPr>
              <a:spcAft>
                <a:spcPts val="500"/>
              </a:spcAft>
              <a:defRPr sz="1200">
                <a:solidFill>
                  <a:srgbClr val="282C30"/>
                </a:solidFill>
                <a:latin typeface="Cambria"/>
              </a:defRPr>
            </a:pPr>
            <a:r>
              <a:t>• GDELT does not show a consistent improvement.</a:t>
            </a:r>
          </a:p>
          <a:p>
            <a:pPr>
              <a:spcAft>
                <a:spcPts val="500"/>
              </a:spcAft>
              <a:defRPr sz="1200">
                <a:solidFill>
                  <a:srgbClr val="282C30"/>
                </a:solidFill>
                <a:latin typeface="Cambria"/>
              </a:defRPr>
            </a:pPr>
            <a:r>
              <a:t>• XGBoost E2 has the highest accuracy in this table, but the difference is small.</a:t>
            </a:r>
          </a:p>
        </p:txBody>
      </p:sp>
      <p:sp>
        <p:nvSpPr>
          <p:cNvPr id="142" name="TextBox 141"/>
          <p:cNvSpPr txBox="1"/>
          <p:nvPr/>
        </p:nvSpPr>
        <p:spPr>
          <a:xfrm>
            <a:off x="594360" y="3547872"/>
            <a:ext cx="3657600" cy="256032"/>
          </a:xfrm>
          <a:prstGeom prst="rect">
            <a:avLst/>
          </a:prstGeom>
          <a:noFill/>
        </p:spPr>
        <p:txBody>
          <a:bodyPr wrap="square" anchor="t">
            <a:spAutoFit/>
          </a:bodyPr>
          <a:lstStyle/>
          <a:p>
            <a:pPr algn="l"/>
            <a:r>
              <a:rPr sz="1200" b="1">
                <a:solidFill>
                  <a:srgbClr val="375C7D"/>
                </a:solidFill>
                <a:latin typeface="Aptos"/>
              </a:rPr>
              <a:t>GNN TEST DIAGNOSTIC</a:t>
            </a:r>
          </a:p>
        </p:txBody>
      </p:sp>
      <p:graphicFrame>
        <p:nvGraphicFramePr>
          <p:cNvPr id="143" name="Table 142"/>
          <p:cNvGraphicFramePr>
            <a:graphicFrameLocks noGrp="1"/>
          </p:cNvGraphicFramePr>
          <p:nvPr/>
        </p:nvGraphicFramePr>
        <p:xfrm>
          <a:off x="594360" y="3886200"/>
          <a:ext cx="4983480" cy="1627632"/>
        </p:xfrm>
        <a:graphic>
          <a:graphicData uri="http://schemas.openxmlformats.org/drawingml/2006/table">
            <a:tbl>
              <a:tblPr firstRow="1" bandRow="1">
                <a:tableStyleId>{5C22544A-7EE6-4342-B048-85BDC9FD1C3A}</a:tableStyleId>
              </a:tblPr>
              <a:tblGrid>
                <a:gridCol w="1661160">
                  <a:extLst>
                    <a:ext uri="{9D8B030D-6E8A-4147-A177-3AD203B41FA5}">
                      <a16:colId xmlns:a16="http://schemas.microsoft.com/office/drawing/2014/main" val="20000"/>
                    </a:ext>
                  </a:extLst>
                </a:gridCol>
                <a:gridCol w="1661160">
                  <a:extLst>
                    <a:ext uri="{9D8B030D-6E8A-4147-A177-3AD203B41FA5}">
                      <a16:colId xmlns:a16="http://schemas.microsoft.com/office/drawing/2014/main" val="20001"/>
                    </a:ext>
                  </a:extLst>
                </a:gridCol>
                <a:gridCol w="1661160">
                  <a:extLst>
                    <a:ext uri="{9D8B030D-6E8A-4147-A177-3AD203B41FA5}">
                      <a16:colId xmlns:a16="http://schemas.microsoft.com/office/drawing/2014/main" val="20002"/>
                    </a:ext>
                  </a:extLst>
                </a:gridCol>
              </a:tblGrid>
              <a:tr h="325526">
                <a:tc>
                  <a:txBody>
                    <a:bodyPr/>
                    <a:lstStyle/>
                    <a:p>
                      <a:pPr algn="l"/>
                      <a:r>
                        <a:rPr sz="980" b="1">
                          <a:solidFill>
                            <a:srgbClr val="FFFFFF"/>
                          </a:solidFill>
                          <a:latin typeface="Cambria"/>
                        </a:rPr>
                        <a:t>Model</a:t>
                      </a:r>
                    </a:p>
                  </a:txBody>
                  <a:tcPr marL="36576" marR="36576">
                    <a:solidFill>
                      <a:srgbClr val="375C7D"/>
                    </a:solidFill>
                  </a:tcPr>
                </a:tc>
                <a:tc>
                  <a:txBody>
                    <a:bodyPr/>
                    <a:lstStyle/>
                    <a:p>
                      <a:pPr algn="l"/>
                      <a:r>
                        <a:rPr sz="980" b="1">
                          <a:solidFill>
                            <a:srgbClr val="FFFFFF"/>
                          </a:solidFill>
                          <a:latin typeface="Cambria"/>
                        </a:rPr>
                        <a:t>ROC-AUC</a:t>
                      </a:r>
                    </a:p>
                  </a:txBody>
                  <a:tcPr marL="36576" marR="36576">
                    <a:solidFill>
                      <a:srgbClr val="375C7D"/>
                    </a:solidFill>
                  </a:tcPr>
                </a:tc>
                <a:tc>
                  <a:txBody>
                    <a:bodyPr/>
                    <a:lstStyle/>
                    <a:p>
                      <a:pPr algn="ctr"/>
                      <a:r>
                        <a:rPr sz="980" b="1">
                          <a:solidFill>
                            <a:srgbClr val="FFFFFF"/>
                          </a:solidFill>
                          <a:latin typeface="Cambria"/>
                        </a:rPr>
                        <a:t>Observed behaviour</a:t>
                      </a:r>
                    </a:p>
                  </a:txBody>
                  <a:tcPr marL="36576" marR="36576">
                    <a:solidFill>
                      <a:srgbClr val="375C7D"/>
                    </a:solidFill>
                  </a:tcPr>
                </a:tc>
                <a:extLst>
                  <a:ext uri="{0D108BD9-81ED-4DB2-BD59-A6C34878D82A}">
                    <a16:rowId xmlns:a16="http://schemas.microsoft.com/office/drawing/2014/main" val="10000"/>
                  </a:ext>
                </a:extLst>
              </a:tr>
              <a:tr h="325526">
                <a:tc>
                  <a:txBody>
                    <a:bodyPr/>
                    <a:lstStyle/>
                    <a:p>
                      <a:pPr algn="l"/>
                      <a:r>
                        <a:rPr sz="919" b="1">
                          <a:solidFill>
                            <a:srgbClr val="282C30"/>
                          </a:solidFill>
                          <a:latin typeface="Cambria"/>
                        </a:rPr>
                        <a:t>HGT-style</a:t>
                      </a:r>
                    </a:p>
                  </a:txBody>
                  <a:tcPr marL="36576" marR="36576">
                    <a:solidFill>
                      <a:srgbClr val="FFFFFF"/>
                    </a:solidFill>
                  </a:tcPr>
                </a:tc>
                <a:tc>
                  <a:txBody>
                    <a:bodyPr/>
                    <a:lstStyle/>
                    <a:p>
                      <a:pPr algn="l"/>
                      <a:r>
                        <a:rPr sz="919" b="0">
                          <a:solidFill>
                            <a:srgbClr val="282C30"/>
                          </a:solidFill>
                          <a:latin typeface="Cambria"/>
                        </a:rPr>
                        <a:t>0.5018</a:t>
                      </a:r>
                    </a:p>
                  </a:txBody>
                  <a:tcPr marL="36576" marR="36576">
                    <a:solidFill>
                      <a:srgbClr val="FFFFFF"/>
                    </a:solidFill>
                  </a:tcPr>
                </a:tc>
                <a:tc>
                  <a:txBody>
                    <a:bodyPr/>
                    <a:lstStyle/>
                    <a:p>
                      <a:pPr algn="ctr"/>
                      <a:r>
                        <a:rPr sz="919" b="0">
                          <a:solidFill>
                            <a:srgbClr val="282C30"/>
                          </a:solidFill>
                          <a:latin typeface="Cambria"/>
                        </a:rPr>
                        <a:t>UP for every test observation</a:t>
                      </a:r>
                    </a:p>
                  </a:txBody>
                  <a:tcPr marL="36576" marR="36576">
                    <a:solidFill>
                      <a:srgbClr val="FFFFFF"/>
                    </a:solidFill>
                  </a:tcPr>
                </a:tc>
                <a:extLst>
                  <a:ext uri="{0D108BD9-81ED-4DB2-BD59-A6C34878D82A}">
                    <a16:rowId xmlns:a16="http://schemas.microsoft.com/office/drawing/2014/main" val="10001"/>
                  </a:ext>
                </a:extLst>
              </a:tr>
              <a:tr h="325526">
                <a:tc>
                  <a:txBody>
                    <a:bodyPr/>
                    <a:lstStyle/>
                    <a:p>
                      <a:pPr algn="l"/>
                      <a:r>
                        <a:rPr sz="919" b="1">
                          <a:solidFill>
                            <a:srgbClr val="282C30"/>
                          </a:solidFill>
                          <a:latin typeface="Cambria"/>
                        </a:rPr>
                        <a:t>GAT</a:t>
                      </a:r>
                    </a:p>
                  </a:txBody>
                  <a:tcPr marL="36576" marR="36576">
                    <a:solidFill>
                      <a:srgbClr val="EEF1F3"/>
                    </a:solidFill>
                  </a:tcPr>
                </a:tc>
                <a:tc>
                  <a:txBody>
                    <a:bodyPr/>
                    <a:lstStyle/>
                    <a:p>
                      <a:pPr algn="l"/>
                      <a:r>
                        <a:rPr sz="919" b="0">
                          <a:solidFill>
                            <a:srgbClr val="282C30"/>
                          </a:solidFill>
                          <a:latin typeface="Cambria"/>
                        </a:rPr>
                        <a:t>0.4936</a:t>
                      </a:r>
                    </a:p>
                  </a:txBody>
                  <a:tcPr marL="36576" marR="36576">
                    <a:solidFill>
                      <a:srgbClr val="EEF1F3"/>
                    </a:solidFill>
                  </a:tcPr>
                </a:tc>
                <a:tc>
                  <a:txBody>
                    <a:bodyPr/>
                    <a:lstStyle/>
                    <a:p>
                      <a:pPr algn="ctr"/>
                      <a:r>
                        <a:rPr sz="919" b="0">
                          <a:solidFill>
                            <a:srgbClr val="282C30"/>
                          </a:solidFill>
                          <a:latin typeface="Cambria"/>
                        </a:rPr>
                        <a:t>UP for every test observation</a:t>
                      </a:r>
                    </a:p>
                  </a:txBody>
                  <a:tcPr marL="36576" marR="36576">
                    <a:solidFill>
                      <a:srgbClr val="EEF1F3"/>
                    </a:solidFill>
                  </a:tcPr>
                </a:tc>
                <a:extLst>
                  <a:ext uri="{0D108BD9-81ED-4DB2-BD59-A6C34878D82A}">
                    <a16:rowId xmlns:a16="http://schemas.microsoft.com/office/drawing/2014/main" val="10002"/>
                  </a:ext>
                </a:extLst>
              </a:tr>
              <a:tr h="325526">
                <a:tc>
                  <a:txBody>
                    <a:bodyPr/>
                    <a:lstStyle/>
                    <a:p>
                      <a:pPr algn="l"/>
                      <a:r>
                        <a:rPr sz="919" b="1">
                          <a:solidFill>
                            <a:srgbClr val="282C30"/>
                          </a:solidFill>
                          <a:latin typeface="Cambria"/>
                        </a:rPr>
                        <a:t>GCN</a:t>
                      </a:r>
                    </a:p>
                  </a:txBody>
                  <a:tcPr marL="36576" marR="36576">
                    <a:solidFill>
                      <a:srgbClr val="FFFFFF"/>
                    </a:solidFill>
                  </a:tcPr>
                </a:tc>
                <a:tc>
                  <a:txBody>
                    <a:bodyPr/>
                    <a:lstStyle/>
                    <a:p>
                      <a:pPr algn="l"/>
                      <a:r>
                        <a:rPr sz="919" b="0">
                          <a:solidFill>
                            <a:srgbClr val="282C30"/>
                          </a:solidFill>
                          <a:latin typeface="Cambria"/>
                        </a:rPr>
                        <a:t>0.4858</a:t>
                      </a:r>
                    </a:p>
                  </a:txBody>
                  <a:tcPr marL="36576" marR="36576">
                    <a:solidFill>
                      <a:srgbClr val="FFFFFF"/>
                    </a:solidFill>
                  </a:tcPr>
                </a:tc>
                <a:tc>
                  <a:txBody>
                    <a:bodyPr/>
                    <a:lstStyle/>
                    <a:p>
                      <a:pPr algn="ctr"/>
                      <a:r>
                        <a:rPr sz="919" b="0">
                          <a:solidFill>
                            <a:srgbClr val="282C30"/>
                          </a:solidFill>
                          <a:latin typeface="Cambria"/>
                        </a:rPr>
                        <a:t>UP for every test observation</a:t>
                      </a:r>
                    </a:p>
                  </a:txBody>
                  <a:tcPr marL="36576" marR="36576">
                    <a:solidFill>
                      <a:srgbClr val="FFFFFF"/>
                    </a:solidFill>
                  </a:tcPr>
                </a:tc>
                <a:extLst>
                  <a:ext uri="{0D108BD9-81ED-4DB2-BD59-A6C34878D82A}">
                    <a16:rowId xmlns:a16="http://schemas.microsoft.com/office/drawing/2014/main" val="10003"/>
                  </a:ext>
                </a:extLst>
              </a:tr>
              <a:tr h="325528">
                <a:tc>
                  <a:txBody>
                    <a:bodyPr/>
                    <a:lstStyle/>
                    <a:p>
                      <a:pPr algn="l"/>
                      <a:r>
                        <a:rPr sz="919" b="1">
                          <a:solidFill>
                            <a:srgbClr val="282C30"/>
                          </a:solidFill>
                          <a:latin typeface="Cambria"/>
                        </a:rPr>
                        <a:t>GraphSAGE</a:t>
                      </a:r>
                    </a:p>
                  </a:txBody>
                  <a:tcPr marL="36576" marR="36576">
                    <a:solidFill>
                      <a:srgbClr val="EEF1F3"/>
                    </a:solidFill>
                  </a:tcPr>
                </a:tc>
                <a:tc>
                  <a:txBody>
                    <a:bodyPr/>
                    <a:lstStyle/>
                    <a:p>
                      <a:pPr algn="l"/>
                      <a:r>
                        <a:rPr sz="919" b="0">
                          <a:solidFill>
                            <a:srgbClr val="282C30"/>
                          </a:solidFill>
                          <a:latin typeface="Cambria"/>
                        </a:rPr>
                        <a:t>0.4855</a:t>
                      </a:r>
                    </a:p>
                  </a:txBody>
                  <a:tcPr marL="36576" marR="36576">
                    <a:solidFill>
                      <a:srgbClr val="EEF1F3"/>
                    </a:solidFill>
                  </a:tcPr>
                </a:tc>
                <a:tc>
                  <a:txBody>
                    <a:bodyPr/>
                    <a:lstStyle/>
                    <a:p>
                      <a:pPr algn="ctr"/>
                      <a:r>
                        <a:rPr sz="919" b="0">
                          <a:solidFill>
                            <a:srgbClr val="282C30"/>
                          </a:solidFill>
                          <a:latin typeface="Cambria"/>
                        </a:rPr>
                        <a:t>UP for every test observation</a:t>
                      </a:r>
                    </a:p>
                  </a:txBody>
                  <a:tcPr marL="36576" marR="36576">
                    <a:solidFill>
                      <a:srgbClr val="EEF1F3"/>
                    </a:solidFill>
                  </a:tcPr>
                </a:tc>
                <a:extLst>
                  <a:ext uri="{0D108BD9-81ED-4DB2-BD59-A6C34878D82A}">
                    <a16:rowId xmlns:a16="http://schemas.microsoft.com/office/drawing/2014/main" val="10004"/>
                  </a:ext>
                </a:extLst>
              </a:tr>
            </a:tbl>
          </a:graphicData>
        </a:graphic>
      </p:graphicFrame>
      <p:sp>
        <p:nvSpPr>
          <p:cNvPr id="144" name="TextBox 143"/>
          <p:cNvSpPr txBox="1"/>
          <p:nvPr/>
        </p:nvSpPr>
        <p:spPr>
          <a:xfrm>
            <a:off x="5806440" y="3547872"/>
            <a:ext cx="2286000" cy="256032"/>
          </a:xfrm>
          <a:prstGeom prst="rect">
            <a:avLst/>
          </a:prstGeom>
          <a:noFill/>
        </p:spPr>
        <p:txBody>
          <a:bodyPr wrap="square" anchor="t">
            <a:spAutoFit/>
          </a:bodyPr>
          <a:lstStyle/>
          <a:p>
            <a:pPr algn="l"/>
            <a:r>
              <a:rPr sz="1200" b="1">
                <a:solidFill>
                  <a:srgbClr val="375C7D"/>
                </a:solidFill>
                <a:latin typeface="Aptos"/>
              </a:rPr>
              <a:t>WHAT THIS MEANS</a:t>
            </a:r>
          </a:p>
        </p:txBody>
      </p:sp>
      <p:sp>
        <p:nvSpPr>
          <p:cNvPr id="145" name="TextBox 144"/>
          <p:cNvSpPr txBox="1"/>
          <p:nvPr/>
        </p:nvSpPr>
        <p:spPr>
          <a:xfrm>
            <a:off x="5852160" y="3886200"/>
            <a:ext cx="2240280" cy="1508760"/>
          </a:xfrm>
          <a:prstGeom prst="rect">
            <a:avLst/>
          </a:prstGeom>
          <a:noFill/>
        </p:spPr>
        <p:txBody>
          <a:bodyPr wrap="square" anchor="t">
            <a:spAutoFit/>
          </a:bodyPr>
          <a:lstStyle/>
          <a:p>
            <a:pPr algn="l"/>
            <a:r>
              <a:rPr sz="1250" b="0">
                <a:solidFill>
                  <a:srgbClr val="282C30"/>
                </a:solidFill>
                <a:latin typeface="Cambria"/>
              </a:rPr>
              <a:t>The GNNs did not establish useful UP/DOWN discrimination. The positive-class F1 of 0.6814 comes from the constant-UP behaviour and is therefore not evidence of strong classification.</a:t>
            </a:r>
          </a:p>
        </p:txBody>
      </p:sp>
      <p:sp>
        <p:nvSpPr>
          <p:cNvPr id="146" name="Rectangle 145"/>
          <p:cNvSpPr/>
          <p:nvPr/>
        </p:nvSpPr>
        <p:spPr>
          <a:xfrm>
            <a:off x="594360" y="5623560"/>
            <a:ext cx="7543800" cy="16459"/>
          </a:xfrm>
          <a:prstGeom prst="rect">
            <a:avLst/>
          </a:prstGeom>
          <a:solidFill>
            <a:srgbClr val="375C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TextBox 146"/>
          <p:cNvSpPr txBox="1"/>
          <p:nvPr/>
        </p:nvSpPr>
        <p:spPr>
          <a:xfrm>
            <a:off x="594360" y="5833872"/>
            <a:ext cx="2286000" cy="256032"/>
          </a:xfrm>
          <a:prstGeom prst="rect">
            <a:avLst/>
          </a:prstGeom>
          <a:noFill/>
        </p:spPr>
        <p:txBody>
          <a:bodyPr wrap="square" anchor="t">
            <a:spAutoFit/>
          </a:bodyPr>
          <a:lstStyle/>
          <a:p>
            <a:pPr algn="l"/>
            <a:r>
              <a:rPr sz="1200" b="1">
                <a:solidFill>
                  <a:srgbClr val="375C7D"/>
                </a:solidFill>
                <a:latin typeface="Aptos"/>
              </a:rPr>
              <a:t>MILESTONES ACHIEVED</a:t>
            </a:r>
          </a:p>
        </p:txBody>
      </p:sp>
      <p:sp>
        <p:nvSpPr>
          <p:cNvPr id="148" name="TextBox 147"/>
          <p:cNvSpPr txBox="1"/>
          <p:nvPr/>
        </p:nvSpPr>
        <p:spPr>
          <a:xfrm>
            <a:off x="685800" y="6172200"/>
            <a:ext cx="7315200" cy="594360"/>
          </a:xfrm>
          <a:prstGeom prst="rect">
            <a:avLst/>
          </a:prstGeom>
          <a:noFill/>
        </p:spPr>
        <p:txBody>
          <a:bodyPr wrap="square">
            <a:spAutoFit/>
          </a:bodyPr>
          <a:lstStyle/>
          <a:p>
            <a:pPr>
              <a:spcAft>
                <a:spcPts val="500"/>
              </a:spcAft>
              <a:defRPr sz="1150">
                <a:solidFill>
                  <a:srgbClr val="282C30"/>
                </a:solidFill>
                <a:latin typeface="Cambria"/>
              </a:defRPr>
            </a:pPr>
            <a:r>
              <a:t>• Multi-source dataset integrated • heterogeneous graph constructed • classical baselines completed • GDELT ablation completed • GNN behaviour diagnosed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TextBox 141"/>
          <p:cNvSpPr txBox="1"/>
          <p:nvPr/>
        </p:nvSpPr>
        <p:spPr>
          <a:xfrm>
            <a:off x="502920" y="256032"/>
            <a:ext cx="7680960" cy="411480"/>
          </a:xfrm>
          <a:prstGeom prst="rect">
            <a:avLst/>
          </a:prstGeom>
          <a:noFill/>
        </p:spPr>
        <p:txBody>
          <a:bodyPr wrap="square" anchor="t">
            <a:spAutoFit/>
          </a:bodyPr>
          <a:lstStyle/>
          <a:p>
            <a:pPr algn="l"/>
            <a:r>
              <a:rPr sz="2500" b="1">
                <a:solidFill>
                  <a:srgbClr val="22374C"/>
                </a:solidFill>
                <a:latin typeface="Cambria"/>
              </a:rPr>
              <a:t>Conclusion</a:t>
            </a:r>
          </a:p>
        </p:txBody>
      </p:sp>
      <p:sp>
        <p:nvSpPr>
          <p:cNvPr id="143" name="Rectangle 142"/>
          <p:cNvSpPr/>
          <p:nvPr/>
        </p:nvSpPr>
        <p:spPr>
          <a:xfrm>
            <a:off x="502920" y="758952"/>
            <a:ext cx="8138160" cy="16459"/>
          </a:xfrm>
          <a:prstGeom prst="rect">
            <a:avLst/>
          </a:prstGeom>
          <a:solidFill>
            <a:srgbClr val="375C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TextBox 143"/>
          <p:cNvSpPr txBox="1"/>
          <p:nvPr/>
        </p:nvSpPr>
        <p:spPr>
          <a:xfrm>
            <a:off x="8339327" y="283464"/>
            <a:ext cx="320040" cy="228600"/>
          </a:xfrm>
          <a:prstGeom prst="rect">
            <a:avLst/>
          </a:prstGeom>
          <a:noFill/>
        </p:spPr>
        <p:txBody>
          <a:bodyPr wrap="square" anchor="t">
            <a:spAutoFit/>
          </a:bodyPr>
          <a:lstStyle/>
          <a:p>
            <a:pPr algn="r"/>
            <a:r>
              <a:rPr sz="1000" b="0">
                <a:solidFill>
                  <a:srgbClr val="5C6268"/>
                </a:solidFill>
                <a:latin typeface="Aptos"/>
              </a:rPr>
              <a:t>10</a:t>
            </a:r>
          </a:p>
        </p:txBody>
      </p:sp>
      <p:sp>
        <p:nvSpPr>
          <p:cNvPr id="145" name="TextBox 144"/>
          <p:cNvSpPr txBox="1"/>
          <p:nvPr/>
        </p:nvSpPr>
        <p:spPr>
          <a:xfrm>
            <a:off x="640080" y="1097280"/>
            <a:ext cx="1828800" cy="256032"/>
          </a:xfrm>
          <a:prstGeom prst="rect">
            <a:avLst/>
          </a:prstGeom>
          <a:noFill/>
        </p:spPr>
        <p:txBody>
          <a:bodyPr wrap="square" anchor="t">
            <a:spAutoFit/>
          </a:bodyPr>
          <a:lstStyle/>
          <a:p>
            <a:pPr algn="l"/>
            <a:r>
              <a:rPr sz="1200" b="1">
                <a:solidFill>
                  <a:srgbClr val="375C7D"/>
                </a:solidFill>
                <a:latin typeface="Aptos"/>
              </a:rPr>
              <a:t>RQ1 — GDELT</a:t>
            </a:r>
          </a:p>
        </p:txBody>
      </p:sp>
      <p:sp>
        <p:nvSpPr>
          <p:cNvPr id="146" name="TextBox 145"/>
          <p:cNvSpPr txBox="1"/>
          <p:nvPr/>
        </p:nvSpPr>
        <p:spPr>
          <a:xfrm>
            <a:off x="640080" y="1463040"/>
            <a:ext cx="2286000" cy="1325880"/>
          </a:xfrm>
          <a:prstGeom prst="rect">
            <a:avLst/>
          </a:prstGeom>
          <a:noFill/>
        </p:spPr>
        <p:txBody>
          <a:bodyPr wrap="square" anchor="t">
            <a:spAutoFit/>
          </a:bodyPr>
          <a:lstStyle/>
          <a:p>
            <a:pPr algn="l"/>
            <a:r>
              <a:rPr sz="1450" b="0">
                <a:solidFill>
                  <a:srgbClr val="282C30"/>
                </a:solidFill>
                <a:latin typeface="Cambria"/>
              </a:rPr>
              <a:t>The tested GDELT features did not provide a reliable improvement over the corresponding technical-only configurations.</a:t>
            </a:r>
          </a:p>
        </p:txBody>
      </p:sp>
      <p:sp>
        <p:nvSpPr>
          <p:cNvPr id="147" name="TextBox 146"/>
          <p:cNvSpPr txBox="1"/>
          <p:nvPr/>
        </p:nvSpPr>
        <p:spPr>
          <a:xfrm>
            <a:off x="3246120" y="1097280"/>
            <a:ext cx="1828800" cy="256032"/>
          </a:xfrm>
          <a:prstGeom prst="rect">
            <a:avLst/>
          </a:prstGeom>
          <a:noFill/>
        </p:spPr>
        <p:txBody>
          <a:bodyPr wrap="square" anchor="t">
            <a:spAutoFit/>
          </a:bodyPr>
          <a:lstStyle/>
          <a:p>
            <a:pPr algn="l"/>
            <a:r>
              <a:rPr sz="1200" b="1">
                <a:solidFill>
                  <a:srgbClr val="375C7D"/>
                </a:solidFill>
                <a:latin typeface="Aptos"/>
              </a:rPr>
              <a:t>RQ2 — GNN VS ML</a:t>
            </a:r>
          </a:p>
        </p:txBody>
      </p:sp>
      <p:sp>
        <p:nvSpPr>
          <p:cNvPr id="148" name="TextBox 147"/>
          <p:cNvSpPr txBox="1"/>
          <p:nvPr/>
        </p:nvSpPr>
        <p:spPr>
          <a:xfrm>
            <a:off x="3246120" y="1463040"/>
            <a:ext cx="2286000" cy="1325880"/>
          </a:xfrm>
          <a:prstGeom prst="rect">
            <a:avLst/>
          </a:prstGeom>
          <a:noFill/>
        </p:spPr>
        <p:txBody>
          <a:bodyPr wrap="square" anchor="t">
            <a:spAutoFit/>
          </a:bodyPr>
          <a:lstStyle/>
          <a:p>
            <a:pPr algn="l"/>
            <a:r>
              <a:rPr sz="1450" b="0">
                <a:solidFill>
                  <a:srgbClr val="282C30"/>
                </a:solidFill>
                <a:latin typeface="Cambria"/>
              </a:rPr>
              <a:t>Under the tested dataset, graph construction and training configuration, the GNNs did not demonstrate an advantage over the classical baselines.</a:t>
            </a:r>
          </a:p>
        </p:txBody>
      </p:sp>
      <p:sp>
        <p:nvSpPr>
          <p:cNvPr id="149" name="TextBox 148"/>
          <p:cNvSpPr txBox="1"/>
          <p:nvPr/>
        </p:nvSpPr>
        <p:spPr>
          <a:xfrm>
            <a:off x="5852160" y="1097280"/>
            <a:ext cx="1828800" cy="256032"/>
          </a:xfrm>
          <a:prstGeom prst="rect">
            <a:avLst/>
          </a:prstGeom>
          <a:noFill/>
        </p:spPr>
        <p:txBody>
          <a:bodyPr wrap="square" anchor="t">
            <a:spAutoFit/>
          </a:bodyPr>
          <a:lstStyle/>
          <a:p>
            <a:pPr algn="l"/>
            <a:r>
              <a:rPr sz="1200" b="1">
                <a:solidFill>
                  <a:srgbClr val="375C7D"/>
                </a:solidFill>
                <a:latin typeface="Aptos"/>
              </a:rPr>
              <a:t>RQ3 — DIAGNOSTICS</a:t>
            </a:r>
          </a:p>
        </p:txBody>
      </p:sp>
      <p:sp>
        <p:nvSpPr>
          <p:cNvPr id="150" name="TextBox 149"/>
          <p:cNvSpPr txBox="1"/>
          <p:nvPr/>
        </p:nvSpPr>
        <p:spPr>
          <a:xfrm>
            <a:off x="5852160" y="1463040"/>
            <a:ext cx="2240280" cy="1325880"/>
          </a:xfrm>
          <a:prstGeom prst="rect">
            <a:avLst/>
          </a:prstGeom>
          <a:noFill/>
        </p:spPr>
        <p:txBody>
          <a:bodyPr wrap="square" anchor="t">
            <a:spAutoFit/>
          </a:bodyPr>
          <a:lstStyle/>
          <a:p>
            <a:pPr algn="l"/>
            <a:r>
              <a:rPr sz="1450" b="0">
                <a:solidFill>
                  <a:srgbClr val="282C30"/>
                </a:solidFill>
                <a:latin typeface="Cambria"/>
              </a:rPr>
              <a:t>All four GNNs predicted UP for the test observations, so useful UP/DOWN discrimination was not established.</a:t>
            </a:r>
          </a:p>
        </p:txBody>
      </p:sp>
      <p:sp>
        <p:nvSpPr>
          <p:cNvPr id="151" name="Rectangle 150"/>
          <p:cNvSpPr/>
          <p:nvPr/>
        </p:nvSpPr>
        <p:spPr>
          <a:xfrm>
            <a:off x="640080" y="3246120"/>
            <a:ext cx="7726679" cy="16459"/>
          </a:xfrm>
          <a:prstGeom prst="rect">
            <a:avLst/>
          </a:prstGeom>
          <a:solidFill>
            <a:srgbClr val="375C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TextBox 151"/>
          <p:cNvSpPr txBox="1"/>
          <p:nvPr/>
        </p:nvSpPr>
        <p:spPr>
          <a:xfrm>
            <a:off x="640080" y="3611880"/>
            <a:ext cx="2377440" cy="256032"/>
          </a:xfrm>
          <a:prstGeom prst="rect">
            <a:avLst/>
          </a:prstGeom>
          <a:noFill/>
        </p:spPr>
        <p:txBody>
          <a:bodyPr wrap="square" anchor="t">
            <a:spAutoFit/>
          </a:bodyPr>
          <a:lstStyle/>
          <a:p>
            <a:pPr algn="l"/>
            <a:r>
              <a:rPr sz="1200" b="1">
                <a:solidFill>
                  <a:srgbClr val="375C7D"/>
                </a:solidFill>
                <a:latin typeface="Aptos"/>
              </a:rPr>
              <a:t>OVERALL CONCLUSION</a:t>
            </a:r>
          </a:p>
        </p:txBody>
      </p:sp>
      <p:sp>
        <p:nvSpPr>
          <p:cNvPr id="153" name="TextBox 152"/>
          <p:cNvSpPr txBox="1"/>
          <p:nvPr/>
        </p:nvSpPr>
        <p:spPr>
          <a:xfrm>
            <a:off x="640080" y="3977639"/>
            <a:ext cx="7498079" cy="1143000"/>
          </a:xfrm>
          <a:prstGeom prst="rect">
            <a:avLst/>
          </a:prstGeom>
          <a:noFill/>
        </p:spPr>
        <p:txBody>
          <a:bodyPr wrap="square" anchor="t">
            <a:spAutoFit/>
          </a:bodyPr>
          <a:lstStyle/>
          <a:p>
            <a:pPr algn="l"/>
            <a:r>
              <a:rPr sz="1800" b="1">
                <a:solidFill>
                  <a:srgbClr val="22374C"/>
                </a:solidFill>
                <a:latin typeface="Cambria"/>
              </a:rPr>
              <a:t>For this dataset and experimental setup, increasing model complexity did not automatically improve next-day sector prediction. The ablation and diagnostic analysis were essential for interpreting the results.</a:t>
            </a:r>
          </a:p>
        </p:txBody>
      </p:sp>
      <p:sp>
        <p:nvSpPr>
          <p:cNvPr id="154" name="TextBox 153"/>
          <p:cNvSpPr txBox="1"/>
          <p:nvPr/>
        </p:nvSpPr>
        <p:spPr>
          <a:xfrm>
            <a:off x="640080" y="5440680"/>
            <a:ext cx="7498079" cy="731520"/>
          </a:xfrm>
          <a:prstGeom prst="rect">
            <a:avLst/>
          </a:prstGeom>
          <a:noFill/>
        </p:spPr>
        <p:txBody>
          <a:bodyPr wrap="square" anchor="t">
            <a:spAutoFit/>
          </a:bodyPr>
          <a:lstStyle/>
          <a:p>
            <a:pPr algn="l"/>
            <a:r>
              <a:rPr sz="1250" b="0">
                <a:solidFill>
                  <a:srgbClr val="5C6268"/>
                </a:solidFill>
                <a:latin typeface="Cambria"/>
              </a:rPr>
              <a:t>These conclusions are specific to the tested data, feature construction, graph topology and abbreviated GNN training configuration.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TextBox 148"/>
          <p:cNvSpPr txBox="1"/>
          <p:nvPr/>
        </p:nvSpPr>
        <p:spPr>
          <a:xfrm>
            <a:off x="502920" y="256032"/>
            <a:ext cx="7680960" cy="411480"/>
          </a:xfrm>
          <a:prstGeom prst="rect">
            <a:avLst/>
          </a:prstGeom>
          <a:noFill/>
        </p:spPr>
        <p:txBody>
          <a:bodyPr wrap="square" anchor="t">
            <a:spAutoFit/>
          </a:bodyPr>
          <a:lstStyle/>
          <a:p>
            <a:pPr algn="l"/>
            <a:r>
              <a:rPr sz="2500" b="1">
                <a:solidFill>
                  <a:srgbClr val="22374C"/>
                </a:solidFill>
                <a:latin typeface="Cambria"/>
              </a:rPr>
              <a:t>Future Work</a:t>
            </a:r>
          </a:p>
        </p:txBody>
      </p:sp>
      <p:sp>
        <p:nvSpPr>
          <p:cNvPr id="150" name="Rectangle 149"/>
          <p:cNvSpPr/>
          <p:nvPr/>
        </p:nvSpPr>
        <p:spPr>
          <a:xfrm>
            <a:off x="502920" y="758952"/>
            <a:ext cx="8138160" cy="16459"/>
          </a:xfrm>
          <a:prstGeom prst="rect">
            <a:avLst/>
          </a:prstGeom>
          <a:solidFill>
            <a:srgbClr val="375C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TextBox 150"/>
          <p:cNvSpPr txBox="1"/>
          <p:nvPr/>
        </p:nvSpPr>
        <p:spPr>
          <a:xfrm>
            <a:off x="8339327" y="283464"/>
            <a:ext cx="320040" cy="228600"/>
          </a:xfrm>
          <a:prstGeom prst="rect">
            <a:avLst/>
          </a:prstGeom>
          <a:noFill/>
        </p:spPr>
        <p:txBody>
          <a:bodyPr wrap="square" anchor="t">
            <a:spAutoFit/>
          </a:bodyPr>
          <a:lstStyle/>
          <a:p>
            <a:pPr algn="r"/>
            <a:r>
              <a:rPr sz="1000" b="0">
                <a:solidFill>
                  <a:srgbClr val="5C6268"/>
                </a:solidFill>
                <a:latin typeface="Aptos"/>
              </a:rPr>
              <a:t>11</a:t>
            </a:r>
          </a:p>
        </p:txBody>
      </p:sp>
      <p:sp>
        <p:nvSpPr>
          <p:cNvPr id="152" name="TextBox 151"/>
          <p:cNvSpPr txBox="1"/>
          <p:nvPr/>
        </p:nvSpPr>
        <p:spPr>
          <a:xfrm>
            <a:off x="640080" y="1143000"/>
            <a:ext cx="384048" cy="256032"/>
          </a:xfrm>
          <a:prstGeom prst="rect">
            <a:avLst/>
          </a:prstGeom>
          <a:noFill/>
        </p:spPr>
        <p:txBody>
          <a:bodyPr wrap="square" anchor="ctr">
            <a:spAutoFit/>
          </a:bodyPr>
          <a:lstStyle/>
          <a:p>
            <a:pPr algn="ctr"/>
            <a:r>
              <a:rPr sz="1000" b="1">
                <a:solidFill>
                  <a:srgbClr val="FFFFFF"/>
                </a:solidFill>
                <a:latin typeface="Aptos"/>
              </a:rPr>
              <a:t>01</a:t>
            </a:r>
          </a:p>
        </p:txBody>
      </p:sp>
      <p:sp>
        <p:nvSpPr>
          <p:cNvPr id="153" name="Rectangle 152"/>
          <p:cNvSpPr/>
          <p:nvPr/>
        </p:nvSpPr>
        <p:spPr>
          <a:xfrm>
            <a:off x="640080" y="1143000"/>
            <a:ext cx="384048" cy="256032"/>
          </a:xfrm>
          <a:prstGeom prst="rect">
            <a:avLst/>
          </a:prstGeom>
          <a:solidFill>
            <a:schemeClr val="bg2"/>
          </a:solidFill>
          <a:ln>
            <a:solidFill>
              <a:schemeClr val="bg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TextBox 153"/>
          <p:cNvSpPr txBox="1"/>
          <p:nvPr/>
        </p:nvSpPr>
        <p:spPr>
          <a:xfrm>
            <a:off x="1170431" y="1115568"/>
            <a:ext cx="2926080" cy="274320"/>
          </a:xfrm>
          <a:prstGeom prst="rect">
            <a:avLst/>
          </a:prstGeom>
          <a:noFill/>
        </p:spPr>
        <p:txBody>
          <a:bodyPr wrap="square" anchor="t">
            <a:spAutoFit/>
          </a:bodyPr>
          <a:lstStyle/>
          <a:p>
            <a:pPr algn="l"/>
            <a:r>
              <a:rPr sz="1400" b="1">
                <a:solidFill>
                  <a:srgbClr val="22374C"/>
                </a:solidFill>
                <a:latin typeface="Cambria"/>
              </a:rPr>
              <a:t>Improve GNN training</a:t>
            </a:r>
          </a:p>
        </p:txBody>
      </p:sp>
      <p:sp>
        <p:nvSpPr>
          <p:cNvPr id="155" name="TextBox 154"/>
          <p:cNvSpPr txBox="1"/>
          <p:nvPr/>
        </p:nvSpPr>
        <p:spPr>
          <a:xfrm>
            <a:off x="1170431" y="1472184"/>
            <a:ext cx="2926080" cy="685800"/>
          </a:xfrm>
          <a:prstGeom prst="rect">
            <a:avLst/>
          </a:prstGeom>
          <a:noFill/>
        </p:spPr>
        <p:txBody>
          <a:bodyPr wrap="square" anchor="t">
            <a:spAutoFit/>
          </a:bodyPr>
          <a:lstStyle/>
          <a:p>
            <a:pPr algn="l"/>
            <a:r>
              <a:rPr sz="1250" b="0">
                <a:solidFill>
                  <a:srgbClr val="282C30"/>
                </a:solidFill>
                <a:latin typeface="Cambria"/>
              </a:rPr>
              <a:t>Use longer training schedules, repeated seeds and stronger model-selection procedures.</a:t>
            </a:r>
          </a:p>
        </p:txBody>
      </p:sp>
      <p:sp>
        <p:nvSpPr>
          <p:cNvPr id="156" name="TextBox 155"/>
          <p:cNvSpPr txBox="1"/>
          <p:nvPr/>
        </p:nvSpPr>
        <p:spPr>
          <a:xfrm>
            <a:off x="640080" y="2377440"/>
            <a:ext cx="384048" cy="256032"/>
          </a:xfrm>
          <a:prstGeom prst="rect">
            <a:avLst/>
          </a:prstGeom>
          <a:noFill/>
        </p:spPr>
        <p:txBody>
          <a:bodyPr wrap="square" anchor="ctr">
            <a:spAutoFit/>
          </a:bodyPr>
          <a:lstStyle/>
          <a:p>
            <a:pPr algn="ctr"/>
            <a:r>
              <a:rPr sz="1000" b="1">
                <a:solidFill>
                  <a:srgbClr val="FFFFFF"/>
                </a:solidFill>
                <a:latin typeface="Aptos"/>
              </a:rPr>
              <a:t>02</a:t>
            </a:r>
          </a:p>
        </p:txBody>
      </p:sp>
      <p:sp>
        <p:nvSpPr>
          <p:cNvPr id="157" name="Rectangle 156"/>
          <p:cNvSpPr/>
          <p:nvPr/>
        </p:nvSpPr>
        <p:spPr>
          <a:xfrm>
            <a:off x="640080" y="2377440"/>
            <a:ext cx="384048" cy="256032"/>
          </a:xfrm>
          <a:prstGeom prst="rect">
            <a:avLst/>
          </a:prstGeom>
          <a:solidFill>
            <a:schemeClr val="bg2"/>
          </a:solidFill>
          <a:ln>
            <a:solidFill>
              <a:schemeClr val="bg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TextBox 157"/>
          <p:cNvSpPr txBox="1"/>
          <p:nvPr/>
        </p:nvSpPr>
        <p:spPr>
          <a:xfrm>
            <a:off x="1170431" y="2350008"/>
            <a:ext cx="2926080" cy="274320"/>
          </a:xfrm>
          <a:prstGeom prst="rect">
            <a:avLst/>
          </a:prstGeom>
          <a:noFill/>
        </p:spPr>
        <p:txBody>
          <a:bodyPr wrap="square" anchor="t">
            <a:spAutoFit/>
          </a:bodyPr>
          <a:lstStyle/>
          <a:p>
            <a:pPr algn="l"/>
            <a:r>
              <a:rPr sz="1400" b="1">
                <a:solidFill>
                  <a:srgbClr val="22374C"/>
                </a:solidFill>
                <a:latin typeface="Cambria"/>
              </a:rPr>
              <a:t>Stronger temporal evaluation</a:t>
            </a:r>
          </a:p>
        </p:txBody>
      </p:sp>
      <p:sp>
        <p:nvSpPr>
          <p:cNvPr id="159" name="TextBox 158"/>
          <p:cNvSpPr txBox="1"/>
          <p:nvPr/>
        </p:nvSpPr>
        <p:spPr>
          <a:xfrm>
            <a:off x="1170431" y="2706624"/>
            <a:ext cx="2926080" cy="685800"/>
          </a:xfrm>
          <a:prstGeom prst="rect">
            <a:avLst/>
          </a:prstGeom>
          <a:noFill/>
        </p:spPr>
        <p:txBody>
          <a:bodyPr wrap="square" anchor="t">
            <a:spAutoFit/>
          </a:bodyPr>
          <a:lstStyle/>
          <a:p>
            <a:pPr algn="l"/>
            <a:r>
              <a:rPr sz="1250" b="0">
                <a:solidFill>
                  <a:srgbClr val="282C30"/>
                </a:solidFill>
                <a:latin typeface="Cambria"/>
              </a:rPr>
              <a:t>Use walk-forward / rolling-origin validation and report stability across periods.</a:t>
            </a:r>
          </a:p>
        </p:txBody>
      </p:sp>
      <p:sp>
        <p:nvSpPr>
          <p:cNvPr id="160" name="TextBox 159"/>
          <p:cNvSpPr txBox="1"/>
          <p:nvPr/>
        </p:nvSpPr>
        <p:spPr>
          <a:xfrm>
            <a:off x="640080" y="3611880"/>
            <a:ext cx="384048" cy="256032"/>
          </a:xfrm>
          <a:prstGeom prst="rect">
            <a:avLst/>
          </a:prstGeom>
          <a:noFill/>
        </p:spPr>
        <p:txBody>
          <a:bodyPr wrap="square" anchor="ctr">
            <a:spAutoFit/>
          </a:bodyPr>
          <a:lstStyle/>
          <a:p>
            <a:pPr algn="ctr"/>
            <a:r>
              <a:rPr sz="1000" b="1">
                <a:solidFill>
                  <a:srgbClr val="FFFFFF"/>
                </a:solidFill>
                <a:latin typeface="Aptos"/>
              </a:rPr>
              <a:t>03</a:t>
            </a:r>
          </a:p>
        </p:txBody>
      </p:sp>
      <p:sp>
        <p:nvSpPr>
          <p:cNvPr id="161" name="Rectangle 160"/>
          <p:cNvSpPr/>
          <p:nvPr/>
        </p:nvSpPr>
        <p:spPr>
          <a:xfrm>
            <a:off x="640080" y="3611880"/>
            <a:ext cx="384048" cy="256032"/>
          </a:xfrm>
          <a:prstGeom prst="rect">
            <a:avLst/>
          </a:prstGeom>
          <a:solidFill>
            <a:schemeClr val="bg2"/>
          </a:solidFill>
          <a:ln>
            <a:solidFill>
              <a:schemeClr val="bg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TextBox 161"/>
          <p:cNvSpPr txBox="1"/>
          <p:nvPr/>
        </p:nvSpPr>
        <p:spPr>
          <a:xfrm>
            <a:off x="1170431" y="3584448"/>
            <a:ext cx="2926080" cy="274320"/>
          </a:xfrm>
          <a:prstGeom prst="rect">
            <a:avLst/>
          </a:prstGeom>
          <a:noFill/>
        </p:spPr>
        <p:txBody>
          <a:bodyPr wrap="square" anchor="t">
            <a:spAutoFit/>
          </a:bodyPr>
          <a:lstStyle/>
          <a:p>
            <a:pPr algn="l"/>
            <a:r>
              <a:rPr sz="1400" b="1">
                <a:solidFill>
                  <a:srgbClr val="22374C"/>
                </a:solidFill>
                <a:latin typeface="Cambria"/>
              </a:rPr>
              <a:t>Improve data and timing</a:t>
            </a:r>
          </a:p>
        </p:txBody>
      </p:sp>
      <p:sp>
        <p:nvSpPr>
          <p:cNvPr id="163" name="TextBox 162"/>
          <p:cNvSpPr txBox="1"/>
          <p:nvPr/>
        </p:nvSpPr>
        <p:spPr>
          <a:xfrm>
            <a:off x="1170431" y="3941064"/>
            <a:ext cx="2926080" cy="685800"/>
          </a:xfrm>
          <a:prstGeom prst="rect">
            <a:avLst/>
          </a:prstGeom>
          <a:noFill/>
        </p:spPr>
        <p:txBody>
          <a:bodyPr wrap="square" anchor="t">
            <a:spAutoFit/>
          </a:bodyPr>
          <a:lstStyle/>
          <a:p>
            <a:pPr algn="l"/>
            <a:r>
              <a:rPr sz="1250" b="0">
                <a:solidFill>
                  <a:srgbClr val="282C30"/>
                </a:solidFill>
                <a:latin typeface="Cambria"/>
              </a:rPr>
              <a:t>Expand macro coverage and verify publication timestamps for GDELT and macro data.</a:t>
            </a:r>
          </a:p>
        </p:txBody>
      </p:sp>
      <p:sp>
        <p:nvSpPr>
          <p:cNvPr id="164" name="TextBox 163"/>
          <p:cNvSpPr txBox="1"/>
          <p:nvPr/>
        </p:nvSpPr>
        <p:spPr>
          <a:xfrm>
            <a:off x="4617720" y="1143000"/>
            <a:ext cx="384048" cy="256032"/>
          </a:xfrm>
          <a:prstGeom prst="rect">
            <a:avLst/>
          </a:prstGeom>
          <a:noFill/>
        </p:spPr>
        <p:txBody>
          <a:bodyPr wrap="square" anchor="ctr">
            <a:spAutoFit/>
          </a:bodyPr>
          <a:lstStyle/>
          <a:p>
            <a:pPr algn="ctr"/>
            <a:r>
              <a:rPr sz="1000" b="1">
                <a:solidFill>
                  <a:srgbClr val="FFFFFF"/>
                </a:solidFill>
                <a:latin typeface="Aptos"/>
              </a:rPr>
              <a:t>04</a:t>
            </a:r>
          </a:p>
        </p:txBody>
      </p:sp>
      <p:sp>
        <p:nvSpPr>
          <p:cNvPr id="165" name="Rectangle 164"/>
          <p:cNvSpPr/>
          <p:nvPr/>
        </p:nvSpPr>
        <p:spPr>
          <a:xfrm>
            <a:off x="4617720" y="1143000"/>
            <a:ext cx="384048" cy="256032"/>
          </a:xfrm>
          <a:prstGeom prst="rect">
            <a:avLst/>
          </a:prstGeom>
          <a:solidFill>
            <a:schemeClr val="bg2"/>
          </a:solidFill>
          <a:ln>
            <a:solidFill>
              <a:schemeClr val="bg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TextBox 165"/>
          <p:cNvSpPr txBox="1"/>
          <p:nvPr/>
        </p:nvSpPr>
        <p:spPr>
          <a:xfrm>
            <a:off x="5148072" y="1115568"/>
            <a:ext cx="2926080" cy="274320"/>
          </a:xfrm>
          <a:prstGeom prst="rect">
            <a:avLst/>
          </a:prstGeom>
          <a:noFill/>
        </p:spPr>
        <p:txBody>
          <a:bodyPr wrap="square" anchor="t">
            <a:spAutoFit/>
          </a:bodyPr>
          <a:lstStyle/>
          <a:p>
            <a:pPr algn="l"/>
            <a:r>
              <a:rPr sz="1400" b="1">
                <a:solidFill>
                  <a:srgbClr val="22374C"/>
                </a:solidFill>
                <a:latin typeface="Cambria"/>
              </a:rPr>
              <a:t>Dynamic graph models</a:t>
            </a:r>
          </a:p>
        </p:txBody>
      </p:sp>
      <p:sp>
        <p:nvSpPr>
          <p:cNvPr id="167" name="TextBox 166"/>
          <p:cNvSpPr txBox="1"/>
          <p:nvPr/>
        </p:nvSpPr>
        <p:spPr>
          <a:xfrm>
            <a:off x="5148072" y="1472184"/>
            <a:ext cx="2926080" cy="685800"/>
          </a:xfrm>
          <a:prstGeom prst="rect">
            <a:avLst/>
          </a:prstGeom>
          <a:noFill/>
        </p:spPr>
        <p:txBody>
          <a:bodyPr wrap="square" anchor="t">
            <a:spAutoFit/>
          </a:bodyPr>
          <a:lstStyle/>
          <a:p>
            <a:pPr algn="l"/>
            <a:r>
              <a:rPr sz="1250" b="0" dirty="0">
                <a:solidFill>
                  <a:srgbClr val="282C30"/>
                </a:solidFill>
                <a:latin typeface="Cambria"/>
              </a:rPr>
              <a:t>Allow relationships to change over time and investigate temporal GNNs.</a:t>
            </a:r>
          </a:p>
        </p:txBody>
      </p:sp>
      <p:sp>
        <p:nvSpPr>
          <p:cNvPr id="168" name="TextBox 167"/>
          <p:cNvSpPr txBox="1"/>
          <p:nvPr/>
        </p:nvSpPr>
        <p:spPr>
          <a:xfrm>
            <a:off x="4617720" y="2377440"/>
            <a:ext cx="384048" cy="256032"/>
          </a:xfrm>
          <a:prstGeom prst="rect">
            <a:avLst/>
          </a:prstGeom>
          <a:noFill/>
        </p:spPr>
        <p:txBody>
          <a:bodyPr wrap="square" anchor="ctr">
            <a:spAutoFit/>
          </a:bodyPr>
          <a:lstStyle/>
          <a:p>
            <a:pPr algn="ctr"/>
            <a:r>
              <a:rPr sz="1000" b="1">
                <a:solidFill>
                  <a:srgbClr val="FFFFFF"/>
                </a:solidFill>
                <a:latin typeface="Aptos"/>
              </a:rPr>
              <a:t>05</a:t>
            </a:r>
          </a:p>
        </p:txBody>
      </p:sp>
      <p:sp>
        <p:nvSpPr>
          <p:cNvPr id="169" name="Rectangle 168"/>
          <p:cNvSpPr/>
          <p:nvPr/>
        </p:nvSpPr>
        <p:spPr>
          <a:xfrm>
            <a:off x="4617720" y="2377440"/>
            <a:ext cx="384048" cy="256032"/>
          </a:xfrm>
          <a:prstGeom prst="rect">
            <a:avLst/>
          </a:prstGeom>
          <a:solidFill>
            <a:schemeClr val="bg2"/>
          </a:solidFill>
          <a:ln>
            <a:solidFill>
              <a:schemeClr val="bg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TextBox 169"/>
          <p:cNvSpPr txBox="1"/>
          <p:nvPr/>
        </p:nvSpPr>
        <p:spPr>
          <a:xfrm>
            <a:off x="5148072" y="2350008"/>
            <a:ext cx="2926080" cy="274320"/>
          </a:xfrm>
          <a:prstGeom prst="rect">
            <a:avLst/>
          </a:prstGeom>
          <a:noFill/>
        </p:spPr>
        <p:txBody>
          <a:bodyPr wrap="square" anchor="t">
            <a:spAutoFit/>
          </a:bodyPr>
          <a:lstStyle/>
          <a:p>
            <a:pPr algn="l"/>
            <a:r>
              <a:rPr sz="1400" b="1">
                <a:solidFill>
                  <a:srgbClr val="22374C"/>
                </a:solidFill>
                <a:latin typeface="Cambria"/>
              </a:rPr>
              <a:t>Practical evaluation</a:t>
            </a:r>
          </a:p>
        </p:txBody>
      </p:sp>
      <p:sp>
        <p:nvSpPr>
          <p:cNvPr id="171" name="TextBox 170"/>
          <p:cNvSpPr txBox="1"/>
          <p:nvPr/>
        </p:nvSpPr>
        <p:spPr>
          <a:xfrm>
            <a:off x="5148072" y="2706624"/>
            <a:ext cx="2926080" cy="685800"/>
          </a:xfrm>
          <a:prstGeom prst="rect">
            <a:avLst/>
          </a:prstGeom>
          <a:noFill/>
        </p:spPr>
        <p:txBody>
          <a:bodyPr wrap="square" anchor="t">
            <a:spAutoFit/>
          </a:bodyPr>
          <a:lstStyle/>
          <a:p>
            <a:pPr algn="l"/>
            <a:r>
              <a:rPr sz="1250" b="0" dirty="0">
                <a:solidFill>
                  <a:srgbClr val="282C30"/>
                </a:solidFill>
                <a:latin typeface="Cambria"/>
              </a:rPr>
              <a:t>If predictive signal emerges, evaluate it through a trading </a:t>
            </a:r>
            <a:r>
              <a:rPr sz="1250" b="0" dirty="0" err="1">
                <a:solidFill>
                  <a:srgbClr val="282C30"/>
                </a:solidFill>
                <a:latin typeface="Cambria"/>
              </a:rPr>
              <a:t>backtest</a:t>
            </a:r>
            <a:r>
              <a:rPr sz="1250" b="0" dirty="0">
                <a:solidFill>
                  <a:srgbClr val="282C30"/>
                </a:solidFill>
                <a:latin typeface="Cambria"/>
              </a:rPr>
              <a:t> with transaction costs.</a:t>
            </a:r>
          </a:p>
        </p:txBody>
      </p:sp>
      <p:sp>
        <p:nvSpPr>
          <p:cNvPr id="172" name="Rectangle 171"/>
          <p:cNvSpPr/>
          <p:nvPr/>
        </p:nvSpPr>
        <p:spPr>
          <a:xfrm>
            <a:off x="640080" y="5257800"/>
            <a:ext cx="7726679" cy="16459"/>
          </a:xfrm>
          <a:prstGeom prst="rect">
            <a:avLst/>
          </a:prstGeom>
          <a:solidFill>
            <a:srgbClr val="375C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 name="TextBox 172"/>
          <p:cNvSpPr txBox="1"/>
          <p:nvPr/>
        </p:nvSpPr>
        <p:spPr>
          <a:xfrm>
            <a:off x="640080" y="5532120"/>
            <a:ext cx="7498079" cy="502920"/>
          </a:xfrm>
          <a:prstGeom prst="rect">
            <a:avLst/>
          </a:prstGeom>
          <a:noFill/>
        </p:spPr>
        <p:txBody>
          <a:bodyPr wrap="square" anchor="t">
            <a:spAutoFit/>
          </a:bodyPr>
          <a:lstStyle/>
          <a:p>
            <a:pPr algn="l"/>
            <a:r>
              <a:rPr sz="1300" b="1">
                <a:solidFill>
                  <a:srgbClr val="B57030"/>
                </a:solidFill>
                <a:latin typeface="Cambria"/>
              </a:rPr>
              <a:t>These are proposed extensions; they were not part of the reported experimental results.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TextBox 155"/>
          <p:cNvSpPr txBox="1"/>
          <p:nvPr/>
        </p:nvSpPr>
        <p:spPr>
          <a:xfrm>
            <a:off x="502920" y="256032"/>
            <a:ext cx="7680960" cy="411480"/>
          </a:xfrm>
          <a:prstGeom prst="rect">
            <a:avLst/>
          </a:prstGeom>
          <a:noFill/>
        </p:spPr>
        <p:txBody>
          <a:bodyPr wrap="square" anchor="t">
            <a:spAutoFit/>
          </a:bodyPr>
          <a:lstStyle/>
          <a:p>
            <a:pPr algn="l"/>
            <a:r>
              <a:rPr sz="2500" b="1">
                <a:solidFill>
                  <a:srgbClr val="22374C"/>
                </a:solidFill>
                <a:latin typeface="Cambria"/>
              </a:rPr>
              <a:t>References</a:t>
            </a:r>
          </a:p>
        </p:txBody>
      </p:sp>
      <p:sp>
        <p:nvSpPr>
          <p:cNvPr id="157" name="Rectangle 156"/>
          <p:cNvSpPr/>
          <p:nvPr/>
        </p:nvSpPr>
        <p:spPr>
          <a:xfrm>
            <a:off x="502920" y="758952"/>
            <a:ext cx="8138160" cy="16459"/>
          </a:xfrm>
          <a:prstGeom prst="rect">
            <a:avLst/>
          </a:prstGeom>
          <a:solidFill>
            <a:srgbClr val="375C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TextBox 157"/>
          <p:cNvSpPr txBox="1"/>
          <p:nvPr/>
        </p:nvSpPr>
        <p:spPr>
          <a:xfrm>
            <a:off x="8339327" y="283464"/>
            <a:ext cx="320040" cy="228600"/>
          </a:xfrm>
          <a:prstGeom prst="rect">
            <a:avLst/>
          </a:prstGeom>
          <a:noFill/>
        </p:spPr>
        <p:txBody>
          <a:bodyPr wrap="square" anchor="t">
            <a:spAutoFit/>
          </a:bodyPr>
          <a:lstStyle/>
          <a:p>
            <a:pPr algn="r"/>
            <a:r>
              <a:rPr sz="1000" b="0">
                <a:solidFill>
                  <a:srgbClr val="5C6268"/>
                </a:solidFill>
                <a:latin typeface="Aptos"/>
              </a:rPr>
              <a:t>12</a:t>
            </a:r>
          </a:p>
        </p:txBody>
      </p:sp>
      <p:sp>
        <p:nvSpPr>
          <p:cNvPr id="159" name="TextBox 158"/>
          <p:cNvSpPr txBox="1"/>
          <p:nvPr/>
        </p:nvSpPr>
        <p:spPr>
          <a:xfrm>
            <a:off x="640080" y="1051560"/>
            <a:ext cx="3474720" cy="256032"/>
          </a:xfrm>
          <a:prstGeom prst="rect">
            <a:avLst/>
          </a:prstGeom>
          <a:noFill/>
        </p:spPr>
        <p:txBody>
          <a:bodyPr wrap="square" anchor="t">
            <a:spAutoFit/>
          </a:bodyPr>
          <a:lstStyle/>
          <a:p>
            <a:pPr algn="l"/>
            <a:r>
              <a:rPr sz="1200" b="1">
                <a:solidFill>
                  <a:srgbClr val="375C7D"/>
                </a:solidFill>
                <a:latin typeface="Aptos"/>
              </a:rPr>
              <a:t>JOURNAL / CONFERENCE PAPERS</a:t>
            </a:r>
          </a:p>
        </p:txBody>
      </p:sp>
      <p:sp>
        <p:nvSpPr>
          <p:cNvPr id="160" name="TextBox 159"/>
          <p:cNvSpPr txBox="1"/>
          <p:nvPr/>
        </p:nvSpPr>
        <p:spPr>
          <a:xfrm>
            <a:off x="685800" y="1417320"/>
            <a:ext cx="3657600" cy="3474720"/>
          </a:xfrm>
          <a:prstGeom prst="rect">
            <a:avLst/>
          </a:prstGeom>
          <a:noFill/>
        </p:spPr>
        <p:txBody>
          <a:bodyPr wrap="square">
            <a:spAutoFit/>
          </a:bodyPr>
          <a:lstStyle/>
          <a:p>
            <a:pPr>
              <a:spcAft>
                <a:spcPts val="500"/>
              </a:spcAft>
              <a:defRPr sz="1150">
                <a:solidFill>
                  <a:srgbClr val="282C30"/>
                </a:solidFill>
                <a:latin typeface="Cambria"/>
              </a:defRPr>
            </a:pPr>
            <a:r>
              <a:t>• Fama, E. F. (1970), “Efficient Capital Markets: A Review of Theory and Empirical Work.”</a:t>
            </a:r>
          </a:p>
          <a:p>
            <a:pPr>
              <a:spcAft>
                <a:spcPts val="500"/>
              </a:spcAft>
              <a:defRPr sz="1150">
                <a:solidFill>
                  <a:srgbClr val="282C30"/>
                </a:solidFill>
                <a:latin typeface="Cambria"/>
              </a:defRPr>
            </a:pPr>
            <a:r>
              <a:t>• Caldara, D. &amp; Iacoviello, M. (2022), “Measuring Geopolitical Risk.”</a:t>
            </a:r>
          </a:p>
          <a:p>
            <a:pPr>
              <a:spcAft>
                <a:spcPts val="500"/>
              </a:spcAft>
              <a:defRPr sz="1150">
                <a:solidFill>
                  <a:srgbClr val="282C30"/>
                </a:solidFill>
                <a:latin typeface="Cambria"/>
              </a:defRPr>
            </a:pPr>
            <a:r>
              <a:t>• Kipf, T. N. &amp; Welling, M. (2017), “Semi-Supervised Classification with Graph Convolutional Networks.”</a:t>
            </a:r>
          </a:p>
          <a:p>
            <a:pPr>
              <a:spcAft>
                <a:spcPts val="500"/>
              </a:spcAft>
              <a:defRPr sz="1150">
                <a:solidFill>
                  <a:srgbClr val="282C30"/>
                </a:solidFill>
                <a:latin typeface="Cambria"/>
              </a:defRPr>
            </a:pPr>
            <a:r>
              <a:t>• Hamilton, W. L., Ying, Z. &amp; Leskovec, J. (2017), “Inductive Representation Learning on Large Graphs.”</a:t>
            </a:r>
          </a:p>
          <a:p>
            <a:pPr>
              <a:spcAft>
                <a:spcPts val="500"/>
              </a:spcAft>
              <a:defRPr sz="1150">
                <a:solidFill>
                  <a:srgbClr val="282C30"/>
                </a:solidFill>
                <a:latin typeface="Cambria"/>
              </a:defRPr>
            </a:pPr>
            <a:r>
              <a:t>• Veličković, P. et al. (2018), “Graph Attention Networks.”</a:t>
            </a:r>
          </a:p>
        </p:txBody>
      </p:sp>
      <p:sp>
        <p:nvSpPr>
          <p:cNvPr id="161" name="TextBox 160"/>
          <p:cNvSpPr txBox="1"/>
          <p:nvPr/>
        </p:nvSpPr>
        <p:spPr>
          <a:xfrm>
            <a:off x="4663440" y="1051560"/>
            <a:ext cx="3474720" cy="256032"/>
          </a:xfrm>
          <a:prstGeom prst="rect">
            <a:avLst/>
          </a:prstGeom>
          <a:noFill/>
        </p:spPr>
        <p:txBody>
          <a:bodyPr wrap="square" anchor="t">
            <a:spAutoFit/>
          </a:bodyPr>
          <a:lstStyle/>
          <a:p>
            <a:pPr algn="l"/>
            <a:r>
              <a:rPr sz="1200" b="1">
                <a:solidFill>
                  <a:srgbClr val="375C7D"/>
                </a:solidFill>
                <a:latin typeface="Aptos"/>
              </a:rPr>
              <a:t>OTHER SOURCES</a:t>
            </a:r>
          </a:p>
        </p:txBody>
      </p:sp>
      <p:sp>
        <p:nvSpPr>
          <p:cNvPr id="162" name="TextBox 161"/>
          <p:cNvSpPr txBox="1"/>
          <p:nvPr/>
        </p:nvSpPr>
        <p:spPr>
          <a:xfrm>
            <a:off x="4709160" y="1417320"/>
            <a:ext cx="3474720" cy="3474720"/>
          </a:xfrm>
          <a:prstGeom prst="rect">
            <a:avLst/>
          </a:prstGeom>
          <a:noFill/>
        </p:spPr>
        <p:txBody>
          <a:bodyPr wrap="square">
            <a:spAutoFit/>
          </a:bodyPr>
          <a:lstStyle/>
          <a:p>
            <a:pPr>
              <a:spcAft>
                <a:spcPts val="500"/>
              </a:spcAft>
              <a:defRPr sz="1150">
                <a:solidFill>
                  <a:srgbClr val="282C30"/>
                </a:solidFill>
                <a:latin typeface="Cambria"/>
              </a:defRPr>
            </a:pPr>
            <a:r>
              <a:t>• Leetaru, K. &amp; Schrodt, P. A. (2013), “GDELT: Global Data on Events, Location, and Tone.”</a:t>
            </a:r>
          </a:p>
          <a:p>
            <a:pPr>
              <a:spcAft>
                <a:spcPts val="500"/>
              </a:spcAft>
              <a:defRPr sz="1150">
                <a:solidFill>
                  <a:srgbClr val="282C30"/>
                </a:solidFill>
                <a:latin typeface="Cambria"/>
              </a:defRPr>
            </a:pPr>
            <a:r>
              <a:t>• Hastie, T., Tibshirani, R. &amp; Friedman, J. (2009), The Elements of Statistical Learning, 2nd ed.</a:t>
            </a:r>
          </a:p>
          <a:p>
            <a:pPr>
              <a:spcAft>
                <a:spcPts val="500"/>
              </a:spcAft>
              <a:defRPr sz="1150">
                <a:solidFill>
                  <a:srgbClr val="282C30"/>
                </a:solidFill>
                <a:latin typeface="Cambria"/>
              </a:defRPr>
            </a:pPr>
            <a:r>
              <a:t>• GDELT Project Event Database — geopolitical event and tone data.</a:t>
            </a:r>
          </a:p>
          <a:p>
            <a:pPr>
              <a:spcAft>
                <a:spcPts val="500"/>
              </a:spcAft>
              <a:defRPr sz="1150">
                <a:solidFill>
                  <a:srgbClr val="282C30"/>
                </a:solidFill>
                <a:latin typeface="Cambria"/>
              </a:defRPr>
            </a:pPr>
            <a:r>
              <a:t>• National Stock Exchange of India (NSE) — NIFTY sectoral index data.</a:t>
            </a:r>
          </a:p>
        </p:txBody>
      </p:sp>
      <p:sp>
        <p:nvSpPr>
          <p:cNvPr id="163" name="Rectangle 162"/>
          <p:cNvSpPr/>
          <p:nvPr/>
        </p:nvSpPr>
        <p:spPr>
          <a:xfrm>
            <a:off x="640080" y="5257800"/>
            <a:ext cx="7726679" cy="16459"/>
          </a:xfrm>
          <a:prstGeom prst="rect">
            <a:avLst/>
          </a:prstGeom>
          <a:solidFill>
            <a:srgbClr val="375C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TextBox 163"/>
          <p:cNvSpPr txBox="1"/>
          <p:nvPr/>
        </p:nvSpPr>
        <p:spPr>
          <a:xfrm>
            <a:off x="640080" y="5532120"/>
            <a:ext cx="7498079" cy="411480"/>
          </a:xfrm>
          <a:prstGeom prst="rect">
            <a:avLst/>
          </a:prstGeom>
          <a:noFill/>
        </p:spPr>
        <p:txBody>
          <a:bodyPr wrap="square" anchor="t">
            <a:spAutoFit/>
          </a:bodyPr>
          <a:lstStyle/>
          <a:p>
            <a:pPr algn="l"/>
            <a:r>
              <a:rPr sz="1300" b="0">
                <a:solidFill>
                  <a:srgbClr val="5C6268"/>
                </a:solidFill>
                <a:latin typeface="Cambria"/>
              </a:rPr>
              <a:t>The complete reference list and dataset details are provided in the dissertation.</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2897</Words>
  <Application>Microsoft Office PowerPoint</Application>
  <PresentationFormat>On-screen Show (4:3)</PresentationFormat>
  <Paragraphs>277</Paragraphs>
  <Slides>12</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Cambria</vt:lpstr>
      <vt:lpstr>Aptos Display</vt:lpstr>
      <vt:lpstr>Arial</vt:lpstr>
      <vt:lpstr>Cambria Math</vt:lpstr>
      <vt:lpstr>Aptos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india</dc:creator>
  <cp:lastModifiedBy>Kunal Goyal</cp:lastModifiedBy>
  <cp:revision>1</cp:revision>
  <dcterms:created xsi:type="dcterms:W3CDTF">2024-03-19T06:18:55Z</dcterms:created>
  <dcterms:modified xsi:type="dcterms:W3CDTF">2026-09-27T12:15:15Z</dcterms:modified>
</cp:coreProperties>
</file>